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  <p:sldMasterId id="2147483656" r:id="rId2"/>
    <p:sldMasterId id="2147483680" r:id="rId3"/>
    <p:sldMasterId id="2147483685" r:id="rId4"/>
    <p:sldMasterId id="2147483699" r:id="rId5"/>
  </p:sldMasterIdLst>
  <p:notesMasterIdLst>
    <p:notesMasterId r:id="rId16"/>
  </p:notesMasterIdLst>
  <p:handoutMasterIdLst>
    <p:handoutMasterId r:id="rId17"/>
  </p:handoutMasterIdLst>
  <p:sldIdLst>
    <p:sldId id="256" r:id="rId12"/>
    <p:sldId id="257" r:id="rId13"/>
    <p:sldId id="258" r:id="rId14"/>
    <p:sldId id="259" r:id="rId15"/>
    <p:sldId id="260" r:id="rId11"/>
    <p:sldId id="261" r:id="rId10"/>
    <p:sldId id="262" r:id="rId9"/>
    <p:sldId id="263" r:id="rId8"/>
    <p:sldId id="264" r:id="rId7"/>
    <p:sldId id="265" r:id="rId6"/>
    <p:sldId id="266" r:id="rId22"/>
    <p:sldId id="267" r:id="rId23"/>
    <p:sldId id="268" r:id="rId24"/>
    <p:sldId id="269" r:id="rId25"/>
    <p:sldId id="270" r:id="rId26"/>
    <p:sldId id="271" r:id="rId2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73"/>
  </p:normalViewPr>
  <p:slideViewPr>
    <p:cSldViewPr snapToGrid="0" snapToObjects="1">
      <p:cViewPr varScale="1">
        <p:scale>
          <a:sx n="107" d="100"/>
          <a:sy n="107" d="100"/>
        </p:scale>
        <p:origin x="612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slide" Target="slides/slide6.xml"/><Relationship Id="rId11" Type="http://schemas.openxmlformats.org/officeDocument/2006/relationships/slide" Target="slides/slide5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DCE5254A-FBCB-B444-AF72-FCFABD6B9A3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1C3220B-5B46-9841-98EC-DF5C6E90E45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B67DAF-59A7-5648-9346-451BAEB098C6}" type="datetimeFigureOut">
              <a:rPr lang="es-ES" smtClean="0"/>
              <a:t>09/03/2022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8297E16-809F-A949-9AF0-120C7A751C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E2FF8AA-833A-2144-90FF-67A4ECDD503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286112-85CF-A846-AAA7-7FFEF9F4425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761958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A3AB20-4437-9340-9FF8-81347A87F1AD}" type="datetimeFigureOut">
              <a:rPr lang="es-ES" smtClean="0"/>
              <a:t>09/03/2022</a:t>
            </a:fld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1311A-5966-C54A-8A32-DB537D3CAD5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261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0:40</a:t>
            </a:r>
          </a:p>
          <a:p>
            <a:pPr/>
            <a:r>
              <a:t>Presentar el trabajo en una frase: segmentación 3D de gliomas con cuatro secuencias de RM.</a:t>
            </a:r>
          </a:p>
          <a:p>
            <a:pPr/>
            <a:r>
              <a:t>Anticipar el foco: comprobar si una fusión adaptativa ligera mejora una concatenación directa bajo un experimento controlado.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0:50</a:t>
            </a:r>
          </a:p>
          <a:p>
            <a:pPr/>
            <a:r>
              <a:t>Usar esta diapositiva como contrato de la presentación: diseño, evidencia y límites.</a:t>
            </a:r>
          </a:p>
          <a:p>
            <a:pPr/>
            <a:r>
              <a:t>No desarrollar todavía los números; se justificarán después con la metodología y los resultados.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1:05</a:t>
            </a:r>
          </a:p>
          <a:p>
            <a:pPr/>
            <a:r>
              <a:t>Explicar por qué la segmentación no es una clasificación: hay que asignar una región a cada vóxel del volumen.</a:t>
            </a:r>
          </a:p>
          <a:p>
            <a:pPr/>
            <a:r>
              <a:t>Conectar la dificultad clínica con el reto técnico: combinar señales complementarias y conservar detalle espacial.</a:t>
            </a:r>
          </a:p>
          <a:p>
            <a:pPr/>
            <a:r>
              <a:t>Aclarar que el sistema es apoyo a segmentación, no diagnóstico ni cribado.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1:15</a:t>
            </a:r>
          </a:p>
          <a:p>
            <a:pPr/>
            <a:r>
              <a:t>Dar una frase por modalidad y evitar sugerir una correspondencia exclusiva modalidad-región.</a:t>
            </a:r>
          </a:p>
          <a:p>
            <a:pPr/>
            <a:r>
              <a:t>Explicar que las salidas son tres máscaras multietiqueta anidadas: ET dentro de TC y TC dentro de WT.</a:t>
            </a:r>
          </a:p>
          <a:p>
            <a:pPr/>
            <a:r>
              <a:t>Este carácter complementario motiva la pregunta sobre cómo fusionar los canales.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1:00</a:t>
            </a:r>
          </a:p>
          <a:p>
            <a:pPr/>
            <a:r>
              <a:t>Leer la pregunta de forma pausada y enfatizar dos términos: consistente y manteniendo fija la arquitectura.</a:t>
            </a:r>
          </a:p>
          <a:p>
            <a:pPr/>
            <a:r>
              <a:t>La hipótesis no se evalúa con una única ejecución: consistencia exige varias semillas.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1:15</a:t>
            </a:r>
          </a:p>
          <a:p>
            <a:pPr/>
            <a:r>
              <a:t>Esta es la diapositiva clave para defender causalidad interna: la ablación residual cambia solo el bloque de entrada.</a:t>
            </a:r>
          </a:p>
          <a:p>
            <a:pPr/>
            <a:r>
              <a:t>Las referencias Swin-UNETR, Attention U-Net y nnU-Net se mostrarán después, pero no forman parte de esta ablación controlada.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1:10</a:t>
            </a:r>
          </a:p>
          <a:p>
            <a:pPr/>
            <a:r>
              <a:t>Destacar el control de calidad completo y las proporciones 70/15/15.</a:t>
            </a:r>
          </a:p>
          <a:p>
            <a:pPr/>
            <a:r>
              <a:t>Explicar la estratificación: origen, presencia de ET y volumen de WT.</a:t>
            </a:r>
          </a:p>
          <a:p>
            <a:pPr/>
            <a:r>
              <a:t>No ocultar el principal límite: el identificador disponible permitió separar estudios, pero no agrupar por paciente antes de entrenar.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1:10</a:t>
            </a:r>
          </a:p>
          <a:p>
            <a:pPr/>
            <a:r>
              <a:t>Recorrer el diagrama de izquierda a derecha: dataset, QC y splits; ruta MONAI y ruta nnU-Net; predicciones; evaluación común.</a:t>
            </a:r>
          </a:p>
          <a:p>
            <a:pPr/>
            <a:r>
              <a:t>Destacar la separación entre predict y evaluate, que permite recalcular métricas sin repetir inferencia.</a:t>
            </a:r>
          </a:p>
          <a:p>
            <a:pPr/>
            <a:r>
              <a:t>La reproducibilidad se apoya en configuraciones YAML, CLI, manifiestos y métricas versionadas.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1:30</a:t>
            </a:r>
          </a:p>
          <a:p>
            <a:pPr/>
            <a:r>
              <a:t>Concatenación deja que la primera convolución aprenda filtros distintos, pero no expone un peso interpretable por modalidad.</a:t>
            </a:r>
          </a:p>
          <a:p>
            <a:pPr/>
            <a:r>
              <a:t>La ponderación global aprende cuatro escalares compartidos por todas las entradas.</a:t>
            </a:r>
          </a:p>
          <a:p>
            <a:pPr/>
            <a:r>
              <a:t>Las compuertas calculan estadísticos globales del parche, pasan por un MLP y aplican softmax para reponderar canales.</a:t>
            </a:r>
          </a:p>
          <a:p>
            <a:pPr/>
            <a:r>
              <a:t>No es atención espacial: el peso es constante dentro de cada parche o ventana.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1:05</a:t>
            </a:r>
          </a:p>
          <a:p>
            <a:pPr/>
            <a:r>
              <a:t>Explicar el orden para evitar fuga de información: entrenamiento, selección en validación, congelación y test.</a:t>
            </a:r>
          </a:p>
          <a:p>
            <a:pPr/>
            <a:r>
              <a:t>Dice es la métrica principal; HD95 complementa con información de distancia de superficies.</a:t>
            </a:r>
          </a:p>
          <a:p>
            <a:pPr/>
            <a:r>
              <a:t>Las tres semillas permiten ver estabilidad, aunque siguen siendo pocas para inferencia estadística sólida.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1:35</a:t>
            </a:r>
          </a:p>
          <a:p>
            <a:pPr/>
            <a:r>
              <a:t>Primero comparar concatenación y ponderación global: ambas alcanzan 0,706 con dispersión pequeña.</a:t>
            </a:r>
          </a:p>
          <a:p>
            <a:pPr/>
            <a:r>
              <a:t>Después mostrar las compuertas: la media baja a alrededor de 0,59 y la variabilidad aumenta mucho.</a:t>
            </a:r>
          </a:p>
          <a:p>
            <a:pPr/>
            <a:r>
              <a:t>El resultado no dice que toda fusión adaptativa falle; dice que estas compuertas ligeras no mejoran de forma consistente bajo este protocolo.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1:35</a:t>
            </a:r>
          </a:p>
          <a:p>
            <a:pPr/>
            <a:r>
              <a:t>Leer por filas: las variantes estables están en torno a 0,70 en las tres semillas.</a:t>
            </a:r>
          </a:p>
          <a:p>
            <a:pPr/>
            <a:r>
              <a:t>Cada compuerta tiene dos ejecuciones competitivas y una caída a aproximadamente 0,35.</a:t>
            </a:r>
          </a:p>
          <a:p>
            <a:pPr/>
            <a:r>
              <a:t>La imagen ilustra una sobresegmentación concreta; no se usa como prueba independiente.</a:t>
            </a:r>
          </a:p>
          <a:p>
            <a:pPr/>
            <a:r>
              <a:t>Ser prudente con el diagnóstico de pesos: fue exploratorio, sobre volúmenes completos y puntos de control preliminares.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1:20</a:t>
            </a:r>
          </a:p>
          <a:p>
            <a:pPr/>
            <a:r>
              <a:t>Presentar esta ordenación como contexto, no como comparación causal de arquitecturas.</a:t>
            </a:r>
          </a:p>
          <a:p>
            <a:pPr/>
            <a:r>
              <a:t>nnU-Net alcanza 0,829 con su pipeline auto-configurado y una única ejecución.</a:t>
            </a:r>
          </a:p>
          <a:p>
            <a:pPr/>
            <a:r>
              <a:t>Swin-UNETR es el mejor modelo MONAI, con 0,752, y da soporte a la dimensión Transformer-UNet del título.</a:t>
            </a:r>
          </a:p>
          <a:p>
            <a:pPr/>
            <a:r>
              <a:t>La brecha sugiere que optimización, capacidad y pipeline importan más que añadir una regla ligera de fusión temprana.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1:10</a:t>
            </a:r>
          </a:p>
          <a:p>
            <a:pPr/>
            <a:r>
              <a:t>Separar ligereza paramétrica de eficiencia completa: el número de parámetros sí está cuantificado; memoria e inferencia no de forma homogénea.</a:t>
            </a:r>
          </a:p>
          <a:p>
            <a:pPr/>
            <a:r>
              <a:t>Los tiempos de pared incorporan I/O y validación, por lo que no son un microbenchmark del bloque.</a:t>
            </a:r>
          </a:p>
          <a:p>
            <a:pPr/>
            <a:r>
              <a:t>La contribución reproducible incluye el pipeline, las particiones, las configuraciones y los artefactos finales.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1:30</a:t>
            </a:r>
          </a:p>
          <a:p>
            <a:pPr/>
            <a:r>
              <a:t>Responder con precisión: no bajo estas configuraciones, semillas, presupuesto y partición.</a:t>
            </a:r>
          </a:p>
          <a:p>
            <a:pPr/>
            <a:r>
              <a:t>La ponderación global no aporta mejora; las compuertas adaptativas presentan inestabilidad.</a:t>
            </a:r>
          </a:p>
          <a:p>
            <a:pPr/>
            <a:r>
              <a:t>Cerrar con el valor metodológico: repetir cambió la interpretación de una aparente mejora en una semilla.</a:t>
            </a:r>
          </a:p>
          <a:p>
            <a:pPr/>
            <a:r>
              <a:t>Proponer como prioridad futura un split por paciente y validación externa antes de aumentar la complejidad del mecanismo.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 orientativo: 0:20</a:t>
            </a:r>
          </a:p>
          <a:p>
            <a:pPr/>
            <a:r>
              <a:t>Finalizar y dejar visible la síntesis numérica durante las preguntas.</a:t>
            </a:r>
          </a:p>
          <a:p>
            <a:pPr/>
            <a:r>
              <a:t>Tener preparados los matices sobre split por paciente, métricas, nnU-Net y diagnóstico de la compuerta.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jpeg"/><Relationship Id="rId3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jpeg"/><Relationship Id="rId3" Type="http://schemas.openxmlformats.org/officeDocument/2006/relationships/image" Target="../media/image8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jpeg"/><Relationship Id="rId3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i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32B78233-A5DB-994B-BD41-02BB62B89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095" y="0"/>
            <a:ext cx="12204096" cy="6858000"/>
          </a:xfrm>
          <a:prstGeom prst="rect">
            <a:avLst/>
          </a:prstGeom>
        </p:spPr>
      </p:pic>
      <p:sp>
        <p:nvSpPr>
          <p:cNvPr id="9" name="Marcador de texto 13">
            <a:extLst>
              <a:ext uri="{FF2B5EF4-FFF2-40B4-BE49-F238E27FC236}">
                <a16:creationId xmlns:a16="http://schemas.microsoft.com/office/drawing/2014/main" id="{204741AB-5D58-1643-89C3-8D22DB98A0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6893" y="325097"/>
            <a:ext cx="7580339" cy="902393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5400" b="0" i="0" spc="-100" baseline="0">
                <a:solidFill>
                  <a:schemeClr val="tx1"/>
                </a:solidFill>
                <a:latin typeface="Periodico Display UltraLight" panose="0200050407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sp>
        <p:nvSpPr>
          <p:cNvPr id="10" name="Marcador de texto 13">
            <a:extLst>
              <a:ext uri="{FF2B5EF4-FFF2-40B4-BE49-F238E27FC236}">
                <a16:creationId xmlns:a16="http://schemas.microsoft.com/office/drawing/2014/main" id="{DF7306E1-EC40-8E43-99C5-762DD98192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6893" y="1264063"/>
            <a:ext cx="7570912" cy="563602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300" b="0" i="0" spc="0" baseline="0">
                <a:solidFill>
                  <a:schemeClr val="tx1"/>
                </a:solidFill>
                <a:latin typeface="Visuelt Pro" panose="020B0503040202040104" pitchFamily="34" charset="0"/>
                <a:cs typeface="Arial" panose="020B0604020202020204" pitchFamily="34" charset="0"/>
              </a:defRPr>
            </a:lvl1pPr>
          </a:lstStyle>
          <a:p>
            <a:r>
              <a:rPr lang="es-ES" dirty="0"/>
              <a:t>Subtítulo presentación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96E94D9-77ED-4844-97B3-F10D42E565D1}"/>
              </a:ext>
            </a:extLst>
          </p:cNvPr>
          <p:cNvSpPr txBox="1"/>
          <p:nvPr userDrawn="1"/>
        </p:nvSpPr>
        <p:spPr>
          <a:xfrm>
            <a:off x="329937" y="6202837"/>
            <a:ext cx="1259965" cy="307777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Arial"/>
              </a:rPr>
              <a:t>2026</a:t>
            </a:r>
            <a:endParaRPr lang="es-ES" sz="1400" b="0" i="0" dirty="0">
              <a:solidFill>
                <a:schemeClr val="bg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514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A98B2BFC-9FDE-5B4B-BCF2-2C8FCC4E850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4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Marcador de texto 13">
            <a:extLst>
              <a:ext uri="{FF2B5EF4-FFF2-40B4-BE49-F238E27FC236}">
                <a16:creationId xmlns:a16="http://schemas.microsoft.com/office/drawing/2014/main" id="{204741AB-5D58-1643-89C3-8D22DB98A0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6893" y="325097"/>
            <a:ext cx="7580339" cy="120737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8000" b="0" i="0" spc="-100" baseline="0">
                <a:solidFill>
                  <a:schemeClr val="tx1"/>
                </a:solidFill>
                <a:latin typeface="Periodico Display UltraLight" panose="0200050407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¡Gracias!</a:t>
            </a:r>
          </a:p>
        </p:txBody>
      </p:sp>
    </p:spTree>
    <p:extLst>
      <p:ext uri="{BB962C8B-B14F-4D97-AF65-F5344CB8AC3E}">
        <p14:creationId xmlns:p14="http://schemas.microsoft.com/office/powerpoint/2010/main" val="725603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442E1C2F-5BF7-6A4B-B25E-96F8E79151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51227" y="0"/>
            <a:ext cx="12192000" cy="6858000"/>
          </a:xfrm>
          <a:prstGeom prst="rect">
            <a:avLst/>
          </a:prstGeom>
        </p:spPr>
      </p:pic>
      <p:sp>
        <p:nvSpPr>
          <p:cNvPr id="8" name="Marcador de texto 13">
            <a:extLst>
              <a:ext uri="{FF2B5EF4-FFF2-40B4-BE49-F238E27FC236}">
                <a16:creationId xmlns:a16="http://schemas.microsoft.com/office/drawing/2014/main" id="{B6CB6766-AA25-7F46-A3DD-4D70475B90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8160" y="5054600"/>
            <a:ext cx="11415107" cy="948267"/>
          </a:xfrm>
          <a:prstGeom prst="rect">
            <a:avLst/>
          </a:prstGeom>
        </p:spPr>
        <p:txBody>
          <a:bodyPr wrap="square" lIns="0" tIns="0" r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100" b="0" i="0" spc="-100" baseline="0">
                <a:solidFill>
                  <a:schemeClr val="tx1"/>
                </a:solidFill>
                <a:latin typeface="Periodico Display UltraLight" panose="0200050407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capítulo</a:t>
            </a:r>
          </a:p>
        </p:txBody>
      </p:sp>
      <p:sp>
        <p:nvSpPr>
          <p:cNvPr id="14" name="Marcador de texto 13">
            <a:extLst>
              <a:ext uri="{FF2B5EF4-FFF2-40B4-BE49-F238E27FC236}">
                <a16:creationId xmlns:a16="http://schemas.microsoft.com/office/drawing/2014/main" id="{D66E09DF-0CE0-6C40-9D23-6DF3B17D89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8160" y="4125011"/>
            <a:ext cx="11415107" cy="922865"/>
          </a:xfrm>
          <a:prstGeom prst="rect">
            <a:avLst/>
          </a:prstGeom>
        </p:spPr>
        <p:txBody>
          <a:bodyPr wrap="square" lIns="0" tIns="0" rIns="0" b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100" b="0" i="0" spc="-100" baseline="0">
                <a:solidFill>
                  <a:schemeClr val="tx1"/>
                </a:solidFill>
                <a:latin typeface="Periodico Display UltraLight" panose="0200050407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00</a:t>
            </a:r>
            <a:br>
              <a:rPr lang="es-ES" dirty="0"/>
            </a:br>
            <a:endParaRPr lang="es-ES" dirty="0"/>
          </a:p>
        </p:txBody>
      </p:sp>
      <p:sp>
        <p:nvSpPr>
          <p:cNvPr id="7" name="Marcador de texto 25">
            <a:extLst>
              <a:ext uri="{FF2B5EF4-FFF2-40B4-BE49-F238E27FC236}">
                <a16:creationId xmlns:a16="http://schemas.microsoft.com/office/drawing/2014/main" id="{0B94D12C-EF15-7241-8F8A-D85C9BC4DDD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8160" y="6392630"/>
            <a:ext cx="4114249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Subtítulo presentación</a:t>
            </a:r>
          </a:p>
        </p:txBody>
      </p:sp>
    </p:spTree>
    <p:extLst>
      <p:ext uri="{BB962C8B-B14F-4D97-AF65-F5344CB8AC3E}">
        <p14:creationId xmlns:p14="http://schemas.microsoft.com/office/powerpoint/2010/main" val="1077095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617382A-8AAA-CB48-A11C-E5B5301F0D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2609"/>
            <a:ext cx="12169585" cy="6845391"/>
          </a:xfrm>
          <a:prstGeom prst="rect">
            <a:avLst/>
          </a:prstGeom>
        </p:spPr>
      </p:pic>
      <p:sp>
        <p:nvSpPr>
          <p:cNvPr id="18" name="Marcador de texto 13">
            <a:extLst>
              <a:ext uri="{FF2B5EF4-FFF2-40B4-BE49-F238E27FC236}">
                <a16:creationId xmlns:a16="http://schemas.microsoft.com/office/drawing/2014/main" id="{39E87D53-8499-8044-B22E-74D4F56221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8160" y="5054600"/>
            <a:ext cx="11415107" cy="948267"/>
          </a:xfrm>
          <a:prstGeom prst="rect">
            <a:avLst/>
          </a:prstGeom>
        </p:spPr>
        <p:txBody>
          <a:bodyPr wrap="square" lIns="0" tIns="0" r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100" b="0" i="0" spc="-100" baseline="0">
                <a:solidFill>
                  <a:schemeClr val="tx1"/>
                </a:solidFill>
                <a:latin typeface="Periodico Display UltraLight" panose="0200050407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capítulo</a:t>
            </a:r>
          </a:p>
        </p:txBody>
      </p:sp>
      <p:sp>
        <p:nvSpPr>
          <p:cNvPr id="19" name="Marcador de texto 13">
            <a:extLst>
              <a:ext uri="{FF2B5EF4-FFF2-40B4-BE49-F238E27FC236}">
                <a16:creationId xmlns:a16="http://schemas.microsoft.com/office/drawing/2014/main" id="{4CD4E9A0-39A8-774F-8E5D-965329C429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8160" y="4125011"/>
            <a:ext cx="11415107" cy="922865"/>
          </a:xfrm>
          <a:prstGeom prst="rect">
            <a:avLst/>
          </a:prstGeom>
        </p:spPr>
        <p:txBody>
          <a:bodyPr wrap="square" lIns="0" tIns="0" rIns="0" b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100" b="0" i="0" spc="-100" baseline="0">
                <a:solidFill>
                  <a:schemeClr val="tx1"/>
                </a:solidFill>
                <a:latin typeface="Periodico Display UltraLight" panose="0200050407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00</a:t>
            </a:r>
            <a:br>
              <a:rPr lang="es-ES" dirty="0"/>
            </a:br>
            <a:endParaRPr lang="es-ES" dirty="0"/>
          </a:p>
        </p:txBody>
      </p:sp>
      <p:sp>
        <p:nvSpPr>
          <p:cNvPr id="6" name="Marcador de texto 25">
            <a:extLst>
              <a:ext uri="{FF2B5EF4-FFF2-40B4-BE49-F238E27FC236}">
                <a16:creationId xmlns:a16="http://schemas.microsoft.com/office/drawing/2014/main" id="{776F372C-FA44-BC4A-802E-1F501B3092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8160" y="6392630"/>
            <a:ext cx="4114249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Subtítulo presentación</a:t>
            </a:r>
          </a:p>
        </p:txBody>
      </p:sp>
    </p:spTree>
    <p:extLst>
      <p:ext uri="{BB962C8B-B14F-4D97-AF65-F5344CB8AC3E}">
        <p14:creationId xmlns:p14="http://schemas.microsoft.com/office/powerpoint/2010/main" val="873717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497FDEB1-C7E7-264E-BEF2-65660E1A7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ítulo 1">
            <a:extLst>
              <a:ext uri="{FF2B5EF4-FFF2-40B4-BE49-F238E27FC236}">
                <a16:creationId xmlns:a16="http://schemas.microsoft.com/office/drawing/2014/main" id="{B50D3FED-6049-FA4B-8A37-E5F06A6B464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3079" y="1997132"/>
            <a:ext cx="10645842" cy="343375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Font typeface="Arial" panose="020B0604020202020204" pitchFamily="34" charset="0"/>
              <a:buNone/>
              <a:defRPr sz="5000" b="0" i="0"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destacado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destacat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CEBB2E2-DBE2-7D45-85D9-738DBA6B0366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27" name="Marcador de texto 25">
            <a:extLst>
              <a:ext uri="{FF2B5EF4-FFF2-40B4-BE49-F238E27FC236}">
                <a16:creationId xmlns:a16="http://schemas.microsoft.com/office/drawing/2014/main" id="{20E762A7-AB1F-594B-A340-FF5D4F7B0B1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94089"/>
            <a:ext cx="4114249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bg2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29" name="Marcador de texto 25">
            <a:extLst>
              <a:ext uri="{FF2B5EF4-FFF2-40B4-BE49-F238E27FC236}">
                <a16:creationId xmlns:a16="http://schemas.microsoft.com/office/drawing/2014/main" id="{468D7502-58FE-6643-944A-CFE1CE85A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464" y="306003"/>
            <a:ext cx="4159359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2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32" name="Marcador de texto 25">
            <a:extLst>
              <a:ext uri="{FF2B5EF4-FFF2-40B4-BE49-F238E27FC236}">
                <a16:creationId xmlns:a16="http://schemas.microsoft.com/office/drawing/2014/main" id="{66002469-9E56-F043-A66E-8B630B63C4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3"/>
            <a:ext cx="4114249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55EBDB8-65D6-0E4A-B030-1E865AEFC8E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32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B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7D36275F-3158-3E40-8E88-18EE0F31E9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BB85E97A-5666-E74E-8C82-E93E0115A0AD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bg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25" name="Título 1">
            <a:extLst>
              <a:ext uri="{FF2B5EF4-FFF2-40B4-BE49-F238E27FC236}">
                <a16:creationId xmlns:a16="http://schemas.microsoft.com/office/drawing/2014/main" id="{ED958E88-22D3-0C44-BFB4-AEE9C2E9E44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3079" y="1997132"/>
            <a:ext cx="10645842" cy="343375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Font typeface="Arial" panose="020B0604020202020204" pitchFamily="34" charset="0"/>
              <a:buNone/>
              <a:defRPr sz="500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destacado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destacat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</a:t>
            </a:r>
          </a:p>
        </p:txBody>
      </p:sp>
      <p:sp>
        <p:nvSpPr>
          <p:cNvPr id="26" name="Marcador de texto 25">
            <a:extLst>
              <a:ext uri="{FF2B5EF4-FFF2-40B4-BE49-F238E27FC236}">
                <a16:creationId xmlns:a16="http://schemas.microsoft.com/office/drawing/2014/main" id="{ABE3CAE6-A0C4-B541-8898-3F0AD2B6B9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94089"/>
            <a:ext cx="4159359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tx2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27" name="Marcador de texto 25">
            <a:extLst>
              <a:ext uri="{FF2B5EF4-FFF2-40B4-BE49-F238E27FC236}">
                <a16:creationId xmlns:a16="http://schemas.microsoft.com/office/drawing/2014/main" id="{0903A72B-184E-694C-8C61-13AE768339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464" y="306003"/>
            <a:ext cx="4204469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2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28" name="Marcador de texto 25">
            <a:extLst>
              <a:ext uri="{FF2B5EF4-FFF2-40B4-BE49-F238E27FC236}">
                <a16:creationId xmlns:a16="http://schemas.microsoft.com/office/drawing/2014/main" id="{7D603DB6-623D-C140-BDFA-A8C98EA0438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4159359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7ED909F-28E6-984F-856C-41D30A7FF5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4166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adroTexto 20">
            <a:extLst>
              <a:ext uri="{FF2B5EF4-FFF2-40B4-BE49-F238E27FC236}">
                <a16:creationId xmlns:a16="http://schemas.microsoft.com/office/drawing/2014/main" id="{275D6B4F-3422-354D-92D6-68B215D03878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bg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26" name="Título 1">
            <a:extLst>
              <a:ext uri="{FF2B5EF4-FFF2-40B4-BE49-F238E27FC236}">
                <a16:creationId xmlns:a16="http://schemas.microsoft.com/office/drawing/2014/main" id="{B8AD0D27-82CE-3F4B-93C5-CC5AE27378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3079" y="1997132"/>
            <a:ext cx="10645842" cy="343375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Font typeface="Arial" panose="020B0604020202020204" pitchFamily="34" charset="0"/>
              <a:buNone/>
              <a:defRPr sz="500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destacado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destacat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</a:t>
            </a:r>
          </a:p>
        </p:txBody>
      </p:sp>
      <p:sp>
        <p:nvSpPr>
          <p:cNvPr id="27" name="Marcador de texto 25">
            <a:extLst>
              <a:ext uri="{FF2B5EF4-FFF2-40B4-BE49-F238E27FC236}">
                <a16:creationId xmlns:a16="http://schemas.microsoft.com/office/drawing/2014/main" id="{FA47B6BD-8F6C-234F-89B1-1F018BA062B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95337"/>
            <a:ext cx="4114249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bg1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28" name="Marcador de texto 25">
            <a:extLst>
              <a:ext uri="{FF2B5EF4-FFF2-40B4-BE49-F238E27FC236}">
                <a16:creationId xmlns:a16="http://schemas.microsoft.com/office/drawing/2014/main" id="{2CBF1D92-964D-4347-A9A3-234AF31941E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464" y="306003"/>
            <a:ext cx="4159359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29" name="Marcador de texto 25">
            <a:extLst>
              <a:ext uri="{FF2B5EF4-FFF2-40B4-BE49-F238E27FC236}">
                <a16:creationId xmlns:a16="http://schemas.microsoft.com/office/drawing/2014/main" id="{7C0E5D8D-2821-A24F-AEB3-EE095E1CE9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3"/>
            <a:ext cx="4114249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B9C683-3668-2A4A-BFC7-40FEF8C838B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7743" y="126162"/>
            <a:ext cx="1205070" cy="60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23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46EBC75A-9B7A-B54E-85DF-B79AF25D84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87EDF925-D83E-B04E-B5F9-5E5F42ED1EF9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bg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0C7BAFB5-0C3A-1442-A5F8-7E6F75E3487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3079" y="1997132"/>
            <a:ext cx="10645842" cy="343375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Font typeface="Arial" panose="020B0604020202020204" pitchFamily="34" charset="0"/>
              <a:buNone/>
              <a:defRPr sz="5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ES" dirty="0"/>
              <a:t>Texto destacado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destacat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</a:t>
            </a:r>
          </a:p>
        </p:txBody>
      </p:sp>
      <p:sp>
        <p:nvSpPr>
          <p:cNvPr id="21" name="Marcador de texto 25">
            <a:extLst>
              <a:ext uri="{FF2B5EF4-FFF2-40B4-BE49-F238E27FC236}">
                <a16:creationId xmlns:a16="http://schemas.microsoft.com/office/drawing/2014/main" id="{4D65E536-901D-004C-A655-0B89E3C73F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94089"/>
            <a:ext cx="4159359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bg1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22" name="Marcador de texto 25">
            <a:extLst>
              <a:ext uri="{FF2B5EF4-FFF2-40B4-BE49-F238E27FC236}">
                <a16:creationId xmlns:a16="http://schemas.microsoft.com/office/drawing/2014/main" id="{473DFD97-5404-A343-A081-6506159B58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464" y="306003"/>
            <a:ext cx="4204469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23" name="Marcador de texto 25">
            <a:extLst>
              <a:ext uri="{FF2B5EF4-FFF2-40B4-BE49-F238E27FC236}">
                <a16:creationId xmlns:a16="http://schemas.microsoft.com/office/drawing/2014/main" id="{3D52AA22-C61D-7041-9072-B6901BA935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4159359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0E322B15-8164-CE48-95D2-5BCAC33B528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57743" y="126162"/>
            <a:ext cx="1205070" cy="60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7110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1">
            <a:extLst>
              <a:ext uri="{FF2B5EF4-FFF2-40B4-BE49-F238E27FC236}">
                <a16:creationId xmlns:a16="http://schemas.microsoft.com/office/drawing/2014/main" id="{B50D3FED-6049-FA4B-8A37-E5F06A6B464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3079" y="1997132"/>
            <a:ext cx="10645842" cy="343375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Font typeface="Arial" panose="020B0604020202020204" pitchFamily="34" charset="0"/>
              <a:buNone/>
              <a:defRPr sz="5000"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destacado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destacat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CEBB2E2-DBE2-7D45-85D9-738DBA6B0366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27" name="Marcador de texto 25">
            <a:extLst>
              <a:ext uri="{FF2B5EF4-FFF2-40B4-BE49-F238E27FC236}">
                <a16:creationId xmlns:a16="http://schemas.microsoft.com/office/drawing/2014/main" id="{20E762A7-AB1F-594B-A340-FF5D4F7B0B1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94089"/>
            <a:ext cx="4114249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bg2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29" name="Marcador de texto 25">
            <a:extLst>
              <a:ext uri="{FF2B5EF4-FFF2-40B4-BE49-F238E27FC236}">
                <a16:creationId xmlns:a16="http://schemas.microsoft.com/office/drawing/2014/main" id="{468D7502-58FE-6643-944A-CFE1CE85A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464" y="306003"/>
            <a:ext cx="4159359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2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32" name="Marcador de texto 25">
            <a:extLst>
              <a:ext uri="{FF2B5EF4-FFF2-40B4-BE49-F238E27FC236}">
                <a16:creationId xmlns:a16="http://schemas.microsoft.com/office/drawing/2014/main" id="{66002469-9E56-F043-A66E-8B630B63C4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3"/>
            <a:ext cx="4114249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3552BD7-4574-8743-9150-E62FBA47D1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6343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F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n 22">
            <a:extLst>
              <a:ext uri="{FF2B5EF4-FFF2-40B4-BE49-F238E27FC236}">
                <a16:creationId xmlns:a16="http://schemas.microsoft.com/office/drawing/2014/main" id="{E70B0647-F99D-B143-BF1B-E6F019E80A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CuadroTexto 29">
            <a:extLst>
              <a:ext uri="{FF2B5EF4-FFF2-40B4-BE49-F238E27FC236}">
                <a16:creationId xmlns:a16="http://schemas.microsoft.com/office/drawing/2014/main" id="{6BF6914D-06C1-7B47-BCD5-561F5442B5BC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6F59C235-4023-1844-BD3D-81F0865B65F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3079" y="1997132"/>
            <a:ext cx="10645842" cy="343375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Font typeface="Arial" panose="020B0604020202020204" pitchFamily="34" charset="0"/>
              <a:buNone/>
              <a:defRPr sz="5000"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destacado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destacat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</a:t>
            </a:r>
          </a:p>
        </p:txBody>
      </p:sp>
      <p:sp>
        <p:nvSpPr>
          <p:cNvPr id="35" name="Marcador de texto 25">
            <a:extLst>
              <a:ext uri="{FF2B5EF4-FFF2-40B4-BE49-F238E27FC236}">
                <a16:creationId xmlns:a16="http://schemas.microsoft.com/office/drawing/2014/main" id="{9332EF15-D36E-F84A-9B5F-F02E7CE1DA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94089"/>
            <a:ext cx="4159359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bg2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36" name="Marcador de texto 25">
            <a:extLst>
              <a:ext uri="{FF2B5EF4-FFF2-40B4-BE49-F238E27FC236}">
                <a16:creationId xmlns:a16="http://schemas.microsoft.com/office/drawing/2014/main" id="{13AACC63-AB3C-0249-B052-AD1891D7FA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464" y="306003"/>
            <a:ext cx="4204469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2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37" name="Marcador de texto 25">
            <a:extLst>
              <a:ext uri="{FF2B5EF4-FFF2-40B4-BE49-F238E27FC236}">
                <a16:creationId xmlns:a16="http://schemas.microsoft.com/office/drawing/2014/main" id="{C507ED2C-F0D6-D84B-9EBD-00E50E82B2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3" y="6399354"/>
            <a:ext cx="4159359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DFAE4EA-7C1B-6D43-9344-8F84DFD4E4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467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81A690B-B9EB-6D4F-9A68-33AE2EEE38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2897313D-C409-674E-8D7C-4BC767F8D450}"/>
              </a:ext>
            </a:extLst>
          </p:cNvPr>
          <p:cNvSpPr/>
          <p:nvPr userDrawn="1"/>
        </p:nvSpPr>
        <p:spPr>
          <a:xfrm>
            <a:off x="3437467" y="651934"/>
            <a:ext cx="5799666" cy="5808134"/>
          </a:xfrm>
          <a:prstGeom prst="rect">
            <a:avLst/>
          </a:prstGeom>
          <a:solidFill>
            <a:schemeClr val="accent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6BF6914D-06C1-7B47-BCD5-561F5442B5BC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bg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31" name="Título 1">
            <a:extLst>
              <a:ext uri="{FF2B5EF4-FFF2-40B4-BE49-F238E27FC236}">
                <a16:creationId xmlns:a16="http://schemas.microsoft.com/office/drawing/2014/main" id="{19E1BAAE-8EE6-1F43-9E88-9DBE86F8F5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69268" y="2633133"/>
            <a:ext cx="4893732" cy="2514600"/>
          </a:xfrm>
          <a:prstGeom prst="rect">
            <a:avLst/>
          </a:prstGeom>
        </p:spPr>
        <p:txBody>
          <a:bodyPr anchor="ctr" anchorCtr="0"/>
          <a:lstStyle>
            <a:lvl1pPr algn="ctr">
              <a:defRPr sz="180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destacado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destacat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Texto destacado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destacat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volutpatTexto</a:t>
            </a:r>
            <a:r>
              <a:rPr lang="es-ES" dirty="0"/>
              <a:t> destacado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.</a:t>
            </a:r>
          </a:p>
        </p:txBody>
      </p:sp>
      <p:sp>
        <p:nvSpPr>
          <p:cNvPr id="20" name="Marcador de texto 25">
            <a:extLst>
              <a:ext uri="{FF2B5EF4-FFF2-40B4-BE49-F238E27FC236}">
                <a16:creationId xmlns:a16="http://schemas.microsoft.com/office/drawing/2014/main" id="{11D90907-CBE5-8548-BF18-2645596A87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94089"/>
            <a:ext cx="3033293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bg2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21" name="Marcador de texto 25">
            <a:extLst>
              <a:ext uri="{FF2B5EF4-FFF2-40B4-BE49-F238E27FC236}">
                <a16:creationId xmlns:a16="http://schemas.microsoft.com/office/drawing/2014/main" id="{786AB6B6-7055-DF4B-95E8-D3F4472844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464" y="306003"/>
            <a:ext cx="3078403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2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22" name="Marcador de texto 25">
            <a:extLst>
              <a:ext uri="{FF2B5EF4-FFF2-40B4-BE49-F238E27FC236}">
                <a16:creationId xmlns:a16="http://schemas.microsoft.com/office/drawing/2014/main" id="{12E5F717-A1F3-BA4E-B751-CA002D046B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3033293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sp>
        <p:nvSpPr>
          <p:cNvPr id="25" name="Marcador de texto 25">
            <a:extLst>
              <a:ext uri="{FF2B5EF4-FFF2-40B4-BE49-F238E27FC236}">
                <a16:creationId xmlns:a16="http://schemas.microsoft.com/office/drawing/2014/main" id="{2ECB263B-A541-D54B-9CD6-FDF7BBE2EE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69268" y="1273885"/>
            <a:ext cx="4893732" cy="77685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100" b="1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destacado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667C917-DEA5-934D-B6A4-E3F089665E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0167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ángulo 31">
            <a:extLst>
              <a:ext uri="{FF2B5EF4-FFF2-40B4-BE49-F238E27FC236}">
                <a16:creationId xmlns:a16="http://schemas.microsoft.com/office/drawing/2014/main" id="{EC5A1A76-DED3-E845-BEE2-CEC5330692FA}"/>
              </a:ext>
            </a:extLst>
          </p:cNvPr>
          <p:cNvSpPr/>
          <p:nvPr userDrawn="1"/>
        </p:nvSpPr>
        <p:spPr>
          <a:xfrm>
            <a:off x="-94128" y="-47065"/>
            <a:ext cx="6173196" cy="69521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86FB673C-18EC-C947-B374-88F9D520CBE2}"/>
              </a:ext>
            </a:extLst>
          </p:cNvPr>
          <p:cNvSpPr txBox="1">
            <a:spLocks/>
          </p:cNvSpPr>
          <p:nvPr userDrawn="1"/>
        </p:nvSpPr>
        <p:spPr>
          <a:xfrm>
            <a:off x="6405396" y="412825"/>
            <a:ext cx="5464809" cy="173663"/>
          </a:xfrm>
          <a:prstGeom prst="rect">
            <a:avLst/>
          </a:prstGeom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1200" b="0" i="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00. Título capítulo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96E9210F-E773-2543-8EEC-1DE0DE394513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bg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59" name="Marcador de texto 6">
            <a:extLst>
              <a:ext uri="{FF2B5EF4-FFF2-40B4-BE49-F238E27FC236}">
                <a16:creationId xmlns:a16="http://schemas.microsoft.com/office/drawing/2014/main" id="{8F3400B1-D594-4442-B737-BCF5A38E0D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5089" y="4568825"/>
            <a:ext cx="4688241" cy="118004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1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62" name="Marcador de texto 25">
            <a:extLst>
              <a:ext uri="{FF2B5EF4-FFF2-40B4-BE49-F238E27FC236}">
                <a16:creationId xmlns:a16="http://schemas.microsoft.com/office/drawing/2014/main" id="{7071F130-476B-F547-91B8-CC3DB646FAF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89157"/>
            <a:ext cx="4743460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accent6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63" name="Marcador de texto 25">
            <a:extLst>
              <a:ext uri="{FF2B5EF4-FFF2-40B4-BE49-F238E27FC236}">
                <a16:creationId xmlns:a16="http://schemas.microsoft.com/office/drawing/2014/main" id="{966C36CF-F134-D443-966D-C0FD80B7D93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7464" y="306003"/>
            <a:ext cx="4794905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accent6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75" name="Marcador de texto 72">
            <a:extLst>
              <a:ext uri="{FF2B5EF4-FFF2-40B4-BE49-F238E27FC236}">
                <a16:creationId xmlns:a16="http://schemas.microsoft.com/office/drawing/2014/main" id="{E574A015-B695-054C-8660-B90EFB0B55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5089" y="1885739"/>
            <a:ext cx="4721161" cy="3429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1"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párrafo</a:t>
            </a:r>
          </a:p>
        </p:txBody>
      </p:sp>
      <p:sp>
        <p:nvSpPr>
          <p:cNvPr id="76" name="Marcador de texto 72">
            <a:extLst>
              <a:ext uri="{FF2B5EF4-FFF2-40B4-BE49-F238E27FC236}">
                <a16:creationId xmlns:a16="http://schemas.microsoft.com/office/drawing/2014/main" id="{E57B0336-35A7-744C-B23C-CB974E3E196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5090" y="2424903"/>
            <a:ext cx="4693536" cy="195024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0"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pequeño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endParaRPr lang="es-ES" dirty="0"/>
          </a:p>
        </p:txBody>
      </p:sp>
      <p:sp>
        <p:nvSpPr>
          <p:cNvPr id="77" name="Marcador de texto 25">
            <a:extLst>
              <a:ext uri="{FF2B5EF4-FFF2-40B4-BE49-F238E27FC236}">
                <a16:creationId xmlns:a16="http://schemas.microsoft.com/office/drawing/2014/main" id="{A246425E-9EFA-A848-8A09-15535F0A6E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4721161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sp>
        <p:nvSpPr>
          <p:cNvPr id="78" name="Marcador de texto 6">
            <a:extLst>
              <a:ext uri="{FF2B5EF4-FFF2-40B4-BE49-F238E27FC236}">
                <a16:creationId xmlns:a16="http://schemas.microsoft.com/office/drawing/2014/main" id="{74E002C9-065A-2745-84D6-F0F746DDFB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33021" y="4558926"/>
            <a:ext cx="4721161" cy="118004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1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30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9" name="Marcador de texto 72">
            <a:extLst>
              <a:ext uri="{FF2B5EF4-FFF2-40B4-BE49-F238E27FC236}">
                <a16:creationId xmlns:a16="http://schemas.microsoft.com/office/drawing/2014/main" id="{1386661A-C4BB-9D44-9529-77D39FBB837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33021" y="1885739"/>
            <a:ext cx="4748786" cy="3429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1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párrafo</a:t>
            </a:r>
          </a:p>
        </p:txBody>
      </p:sp>
      <p:sp>
        <p:nvSpPr>
          <p:cNvPr id="80" name="Marcador de texto 72">
            <a:extLst>
              <a:ext uri="{FF2B5EF4-FFF2-40B4-BE49-F238E27FC236}">
                <a16:creationId xmlns:a16="http://schemas.microsoft.com/office/drawing/2014/main" id="{4F9B5E30-28D4-134D-ACAF-3A59D70E8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433021" y="2424903"/>
            <a:ext cx="4721161" cy="195024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pequeño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endParaRPr lang="es-ES"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E21E2552-C813-F846-AEDA-3751F2FD5B3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7743" y="126162"/>
            <a:ext cx="1205070" cy="60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9060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B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ángulo 31">
            <a:extLst>
              <a:ext uri="{FF2B5EF4-FFF2-40B4-BE49-F238E27FC236}">
                <a16:creationId xmlns:a16="http://schemas.microsoft.com/office/drawing/2014/main" id="{EC5A1A76-DED3-E845-BEE2-CEC5330692FA}"/>
              </a:ext>
            </a:extLst>
          </p:cNvPr>
          <p:cNvSpPr/>
          <p:nvPr userDrawn="1"/>
        </p:nvSpPr>
        <p:spPr>
          <a:xfrm>
            <a:off x="0" y="-3889"/>
            <a:ext cx="607906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96E9210F-E773-2543-8EEC-1DE0DE394513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bg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78" name="Marcador de texto 6">
            <a:extLst>
              <a:ext uri="{FF2B5EF4-FFF2-40B4-BE49-F238E27FC236}">
                <a16:creationId xmlns:a16="http://schemas.microsoft.com/office/drawing/2014/main" id="{74E002C9-065A-2745-84D6-F0F746DDFB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05396" y="4568825"/>
            <a:ext cx="4715835" cy="118004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1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30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9" name="Marcador de texto 72">
            <a:extLst>
              <a:ext uri="{FF2B5EF4-FFF2-40B4-BE49-F238E27FC236}">
                <a16:creationId xmlns:a16="http://schemas.microsoft.com/office/drawing/2014/main" id="{1386661A-C4BB-9D44-9529-77D39FBB837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05396" y="1885739"/>
            <a:ext cx="4721161" cy="3429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1">
                <a:solidFill>
                  <a:schemeClr val="accent6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párrafo</a:t>
            </a:r>
          </a:p>
        </p:txBody>
      </p:sp>
      <p:sp>
        <p:nvSpPr>
          <p:cNvPr id="80" name="Marcador de texto 72">
            <a:extLst>
              <a:ext uri="{FF2B5EF4-FFF2-40B4-BE49-F238E27FC236}">
                <a16:creationId xmlns:a16="http://schemas.microsoft.com/office/drawing/2014/main" id="{4F9B5E30-28D4-134D-ACAF-3A59D70E8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405396" y="2424903"/>
            <a:ext cx="4721161" cy="195024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pequeño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endParaRPr lang="es-ES" dirty="0"/>
          </a:p>
        </p:txBody>
      </p:sp>
      <p:sp>
        <p:nvSpPr>
          <p:cNvPr id="21" name="Marcador de texto 6">
            <a:extLst>
              <a:ext uri="{FF2B5EF4-FFF2-40B4-BE49-F238E27FC236}">
                <a16:creationId xmlns:a16="http://schemas.microsoft.com/office/drawing/2014/main" id="{373FDF6B-B8DD-3043-9C53-9BC45BEE99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5089" y="4568825"/>
            <a:ext cx="4688241" cy="118004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1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30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2" name="Marcador de texto 25">
            <a:extLst>
              <a:ext uri="{FF2B5EF4-FFF2-40B4-BE49-F238E27FC236}">
                <a16:creationId xmlns:a16="http://schemas.microsoft.com/office/drawing/2014/main" id="{7858CACE-248D-0542-9330-FD123F4438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89157"/>
            <a:ext cx="4743460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accent6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23" name="Marcador de texto 25">
            <a:extLst>
              <a:ext uri="{FF2B5EF4-FFF2-40B4-BE49-F238E27FC236}">
                <a16:creationId xmlns:a16="http://schemas.microsoft.com/office/drawing/2014/main" id="{47602718-D3D1-754F-839A-F5A32281991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7464" y="306003"/>
            <a:ext cx="4794905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accent6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24" name="Marcador de texto 72">
            <a:extLst>
              <a:ext uri="{FF2B5EF4-FFF2-40B4-BE49-F238E27FC236}">
                <a16:creationId xmlns:a16="http://schemas.microsoft.com/office/drawing/2014/main" id="{56DFAD2A-F2E0-F74A-89E8-ECCE98F861E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5089" y="1885739"/>
            <a:ext cx="4721161" cy="3429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1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párrafo</a:t>
            </a:r>
          </a:p>
        </p:txBody>
      </p:sp>
      <p:sp>
        <p:nvSpPr>
          <p:cNvPr id="25" name="Marcador de texto 72">
            <a:extLst>
              <a:ext uri="{FF2B5EF4-FFF2-40B4-BE49-F238E27FC236}">
                <a16:creationId xmlns:a16="http://schemas.microsoft.com/office/drawing/2014/main" id="{FCAA76A4-2A2C-EE43-9D9B-DF318B0AF2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5090" y="2424903"/>
            <a:ext cx="4693536" cy="195024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pequeño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endParaRPr lang="es-ES" dirty="0"/>
          </a:p>
        </p:txBody>
      </p:sp>
      <p:sp>
        <p:nvSpPr>
          <p:cNvPr id="26" name="Marcador de texto 25">
            <a:extLst>
              <a:ext uri="{FF2B5EF4-FFF2-40B4-BE49-F238E27FC236}">
                <a16:creationId xmlns:a16="http://schemas.microsoft.com/office/drawing/2014/main" id="{BD6CA84F-EEBF-1F43-BA6C-8C9BDF679FD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4721161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ED60EF30-241A-3342-80AD-D10B53AC81A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5410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B3F50DC-F75A-674C-A65B-9D93EA9133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29287" y="0"/>
            <a:ext cx="5962713" cy="6858000"/>
          </a:xfrm>
          <a:prstGeom prst="rect">
            <a:avLst/>
          </a:prstGeom>
        </p:spPr>
      </p:pic>
      <p:sp>
        <p:nvSpPr>
          <p:cNvPr id="44" name="CuadroTexto 43">
            <a:extLst>
              <a:ext uri="{FF2B5EF4-FFF2-40B4-BE49-F238E27FC236}">
                <a16:creationId xmlns:a16="http://schemas.microsoft.com/office/drawing/2014/main" id="{96E9210F-E773-2543-8EEC-1DE0DE394513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bg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10" name="Marcador de texto 6">
            <a:extLst>
              <a:ext uri="{FF2B5EF4-FFF2-40B4-BE49-F238E27FC236}">
                <a16:creationId xmlns:a16="http://schemas.microsoft.com/office/drawing/2014/main" id="{839E92D0-F74C-D24A-B9B5-A1E9A42049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5089" y="4568825"/>
            <a:ext cx="4688241" cy="118004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1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
Lista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1" name="Marcador de texto 25">
            <a:extLst>
              <a:ext uri="{FF2B5EF4-FFF2-40B4-BE49-F238E27FC236}">
                <a16:creationId xmlns:a16="http://schemas.microsoft.com/office/drawing/2014/main" id="{0D7C52A1-C3B8-BF40-A9A8-BC187650CF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89157"/>
            <a:ext cx="4743460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accent6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12" name="Marcador de texto 25">
            <a:extLst>
              <a:ext uri="{FF2B5EF4-FFF2-40B4-BE49-F238E27FC236}">
                <a16:creationId xmlns:a16="http://schemas.microsoft.com/office/drawing/2014/main" id="{C76B19EF-F42C-E749-965B-80312A64DB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7464" y="306003"/>
            <a:ext cx="4794905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accent6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13" name="Marcador de texto 72">
            <a:extLst>
              <a:ext uri="{FF2B5EF4-FFF2-40B4-BE49-F238E27FC236}">
                <a16:creationId xmlns:a16="http://schemas.microsoft.com/office/drawing/2014/main" id="{A7F09EDC-261E-E044-9605-5F48004AA2C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5089" y="1885739"/>
            <a:ext cx="4721161" cy="3429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1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párrafo</a:t>
            </a:r>
          </a:p>
        </p:txBody>
      </p:sp>
      <p:sp>
        <p:nvSpPr>
          <p:cNvPr id="14" name="Marcador de texto 72">
            <a:extLst>
              <a:ext uri="{FF2B5EF4-FFF2-40B4-BE49-F238E27FC236}">
                <a16:creationId xmlns:a16="http://schemas.microsoft.com/office/drawing/2014/main" id="{E018DC42-B9C2-B340-BB46-3221EDF8690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5090" y="2424903"/>
            <a:ext cx="4693536" cy="195024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pequeño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endParaRPr lang="es-ES" dirty="0"/>
          </a:p>
        </p:txBody>
      </p:sp>
      <p:sp>
        <p:nvSpPr>
          <p:cNvPr id="15" name="Marcador de texto 25">
            <a:extLst>
              <a:ext uri="{FF2B5EF4-FFF2-40B4-BE49-F238E27FC236}">
                <a16:creationId xmlns:a16="http://schemas.microsoft.com/office/drawing/2014/main" id="{A15C4899-7BBA-3945-BA97-98DBFDC717D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4721161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5EEC487-2A86-6945-AA4B-CF4C2C11528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57743" y="126162"/>
            <a:ext cx="1205070" cy="60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3484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3D64029-0A92-204A-87B9-1FB3C47A287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23"/>
          <a:stretch/>
        </p:blipFill>
        <p:spPr>
          <a:xfrm>
            <a:off x="6597748" y="0"/>
            <a:ext cx="5615684" cy="6866467"/>
          </a:xfrm>
          <a:prstGeom prst="rect">
            <a:avLst/>
          </a:prstGeom>
        </p:spPr>
      </p:pic>
      <p:sp>
        <p:nvSpPr>
          <p:cNvPr id="38" name="CuadroTexto 37">
            <a:extLst>
              <a:ext uri="{FF2B5EF4-FFF2-40B4-BE49-F238E27FC236}">
                <a16:creationId xmlns:a16="http://schemas.microsoft.com/office/drawing/2014/main" id="{EA7C54CE-AA5B-6648-AE4E-9DA0E5BA6F20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10" name="Marcador de texto 25">
            <a:extLst>
              <a:ext uri="{FF2B5EF4-FFF2-40B4-BE49-F238E27FC236}">
                <a16:creationId xmlns:a16="http://schemas.microsoft.com/office/drawing/2014/main" id="{D79F9DE1-B7ED-FB4C-8312-2BE5BFC035C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5" y="884512"/>
            <a:ext cx="4749795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accent6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11" name="Marcador de texto 25">
            <a:extLst>
              <a:ext uri="{FF2B5EF4-FFF2-40B4-BE49-F238E27FC236}">
                <a16:creationId xmlns:a16="http://schemas.microsoft.com/office/drawing/2014/main" id="{5E237027-DC7E-9B43-BB10-850FCEC3C6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7465" y="306003"/>
            <a:ext cx="4794904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accent6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12" name="Marcador de texto 25">
            <a:extLst>
              <a:ext uri="{FF2B5EF4-FFF2-40B4-BE49-F238E27FC236}">
                <a16:creationId xmlns:a16="http://schemas.microsoft.com/office/drawing/2014/main" id="{56DB1BF4-82DE-2D46-95DF-90816C16479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5" y="6399353"/>
            <a:ext cx="4721161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sp>
        <p:nvSpPr>
          <p:cNvPr id="15" name="Marcador de texto 25">
            <a:extLst>
              <a:ext uri="{FF2B5EF4-FFF2-40B4-BE49-F238E27FC236}">
                <a16:creationId xmlns:a16="http://schemas.microsoft.com/office/drawing/2014/main" id="{2BDFDAE8-4D7D-7C40-93DC-38873B97E9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7465" y="1903855"/>
            <a:ext cx="5520002" cy="10477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500" b="1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DESTACADO</a:t>
            </a:r>
          </a:p>
        </p:txBody>
      </p:sp>
      <p:sp>
        <p:nvSpPr>
          <p:cNvPr id="18" name="Marcador de texto 72">
            <a:extLst>
              <a:ext uri="{FF2B5EF4-FFF2-40B4-BE49-F238E27FC236}">
                <a16:creationId xmlns:a16="http://schemas.microsoft.com/office/drawing/2014/main" id="{7C4D0A1A-0C45-AC42-8BF1-9C0585D4429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9176" y="3346065"/>
            <a:ext cx="5543328" cy="195024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0"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pequeño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endParaRPr lang="es-ES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DFCC509-E98E-C347-B5BB-5ECC13E5FBF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3006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dor de posición de imagen 5">
            <a:extLst>
              <a:ext uri="{FF2B5EF4-FFF2-40B4-BE49-F238E27FC236}">
                <a16:creationId xmlns:a16="http://schemas.microsoft.com/office/drawing/2014/main" id="{4600176F-A67F-1C4F-9B01-19EF39884E3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602413" y="-1"/>
            <a:ext cx="5589587" cy="6866467"/>
          </a:xfrm>
          <a:prstGeom prst="rect">
            <a:avLst/>
          </a:prstGeom>
        </p:spPr>
        <p:txBody>
          <a:bodyPr/>
          <a:lstStyle>
            <a:lvl1pPr>
              <a:defRPr>
                <a:latin typeface="Visuelt Pro" panose="020B0503040202040104" pitchFamily="34" charset="0"/>
              </a:defRPr>
            </a:lvl1pPr>
          </a:lstStyle>
          <a:p>
            <a:endParaRPr lang="es-ES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EA7C54CE-AA5B-6648-AE4E-9DA0E5BA6F20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17" name="Marcador de texto 25">
            <a:extLst>
              <a:ext uri="{FF2B5EF4-FFF2-40B4-BE49-F238E27FC236}">
                <a16:creationId xmlns:a16="http://schemas.microsoft.com/office/drawing/2014/main" id="{0428A29B-8E68-B94F-B556-33F4E0C769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5" y="884512"/>
            <a:ext cx="4749795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accent6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19" name="Marcador de texto 25">
            <a:extLst>
              <a:ext uri="{FF2B5EF4-FFF2-40B4-BE49-F238E27FC236}">
                <a16:creationId xmlns:a16="http://schemas.microsoft.com/office/drawing/2014/main" id="{FB5CB3A2-882C-F642-917B-B21D108C05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7465" y="306003"/>
            <a:ext cx="4794904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accent6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20" name="Marcador de texto 25">
            <a:extLst>
              <a:ext uri="{FF2B5EF4-FFF2-40B4-BE49-F238E27FC236}">
                <a16:creationId xmlns:a16="http://schemas.microsoft.com/office/drawing/2014/main" id="{52B5DD65-30D1-4D42-9B0C-AD0B23430BA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5" y="6399353"/>
            <a:ext cx="4721161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sp>
        <p:nvSpPr>
          <p:cNvPr id="21" name="Marcador de texto 25">
            <a:extLst>
              <a:ext uri="{FF2B5EF4-FFF2-40B4-BE49-F238E27FC236}">
                <a16:creationId xmlns:a16="http://schemas.microsoft.com/office/drawing/2014/main" id="{70C6720C-1511-414A-BF90-FDBD2BE05A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7465" y="1903855"/>
            <a:ext cx="5520002" cy="10477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500" b="1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DESTACADO</a:t>
            </a:r>
          </a:p>
        </p:txBody>
      </p:sp>
      <p:sp>
        <p:nvSpPr>
          <p:cNvPr id="22" name="Marcador de texto 72">
            <a:extLst>
              <a:ext uri="{FF2B5EF4-FFF2-40B4-BE49-F238E27FC236}">
                <a16:creationId xmlns:a16="http://schemas.microsoft.com/office/drawing/2014/main" id="{2AE5EEC3-1C8B-8F4C-B9D9-E28B6D88EA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9176" y="3346065"/>
            <a:ext cx="5543328" cy="195024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0"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pequeño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endParaRPr lang="es-E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6D35D45-7030-2D4B-84F8-52D62A9B50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1635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F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arcador de texto 25">
            <a:extLst>
              <a:ext uri="{FF2B5EF4-FFF2-40B4-BE49-F238E27FC236}">
                <a16:creationId xmlns:a16="http://schemas.microsoft.com/office/drawing/2014/main" id="{0D7C52A1-C3B8-BF40-A9A8-BC187650CF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89157"/>
            <a:ext cx="4743460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accent6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12" name="Marcador de texto 25">
            <a:extLst>
              <a:ext uri="{FF2B5EF4-FFF2-40B4-BE49-F238E27FC236}">
                <a16:creationId xmlns:a16="http://schemas.microsoft.com/office/drawing/2014/main" id="{C76B19EF-F42C-E749-965B-80312A64DB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7464" y="306003"/>
            <a:ext cx="4794905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accent6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13" name="Marcador de texto 72">
            <a:extLst>
              <a:ext uri="{FF2B5EF4-FFF2-40B4-BE49-F238E27FC236}">
                <a16:creationId xmlns:a16="http://schemas.microsoft.com/office/drawing/2014/main" id="{A7F09EDC-261E-E044-9605-5F48004AA2C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5089" y="1885739"/>
            <a:ext cx="4721161" cy="3429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1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párrafo</a:t>
            </a:r>
          </a:p>
        </p:txBody>
      </p:sp>
      <p:sp>
        <p:nvSpPr>
          <p:cNvPr id="14" name="Marcador de texto 72">
            <a:extLst>
              <a:ext uri="{FF2B5EF4-FFF2-40B4-BE49-F238E27FC236}">
                <a16:creationId xmlns:a16="http://schemas.microsoft.com/office/drawing/2014/main" id="{E018DC42-B9C2-B340-BB46-3221EDF8690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5090" y="2424902"/>
            <a:ext cx="4693536" cy="374729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pequeño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br>
              <a:rPr lang="es-ES" dirty="0"/>
            </a:br>
            <a:endParaRPr lang="es-ES" dirty="0"/>
          </a:p>
          <a:p>
            <a:r>
              <a:rPr lang="es-ES" dirty="0"/>
              <a:t>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.</a:t>
            </a:r>
          </a:p>
        </p:txBody>
      </p:sp>
      <p:sp>
        <p:nvSpPr>
          <p:cNvPr id="15" name="Marcador de texto 25">
            <a:extLst>
              <a:ext uri="{FF2B5EF4-FFF2-40B4-BE49-F238E27FC236}">
                <a16:creationId xmlns:a16="http://schemas.microsoft.com/office/drawing/2014/main" id="{A15C4899-7BBA-3945-BA97-98DBFDC717D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4721161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7B1A6EA-CC82-214E-AC21-5C78BDE6CE27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E0B3C2B-6A56-9B4B-BCC8-AE96AC0EF8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3872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arcador de texto 25">
            <a:extLst>
              <a:ext uri="{FF2B5EF4-FFF2-40B4-BE49-F238E27FC236}">
                <a16:creationId xmlns:a16="http://schemas.microsoft.com/office/drawing/2014/main" id="{0D7C52A1-C3B8-BF40-A9A8-BC187650CF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89157"/>
            <a:ext cx="4743460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accent6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12" name="Marcador de texto 25">
            <a:extLst>
              <a:ext uri="{FF2B5EF4-FFF2-40B4-BE49-F238E27FC236}">
                <a16:creationId xmlns:a16="http://schemas.microsoft.com/office/drawing/2014/main" id="{C76B19EF-F42C-E749-965B-80312A64DB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7464" y="306003"/>
            <a:ext cx="4794905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accent6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15" name="Marcador de texto 25">
            <a:extLst>
              <a:ext uri="{FF2B5EF4-FFF2-40B4-BE49-F238E27FC236}">
                <a16:creationId xmlns:a16="http://schemas.microsoft.com/office/drawing/2014/main" id="{A15C4899-7BBA-3945-BA97-98DBFDC717D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4721161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661D2BD-CAB8-1245-A6F7-AC8245AA5FB3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CF5DE69-7F84-1C42-9C78-95952CBB2C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0843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adroTexto 43">
            <a:extLst>
              <a:ext uri="{FF2B5EF4-FFF2-40B4-BE49-F238E27FC236}">
                <a16:creationId xmlns:a16="http://schemas.microsoft.com/office/drawing/2014/main" id="{96E9210F-E773-2543-8EEC-1DE0DE394513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16/9/20</a:t>
            </a:r>
          </a:p>
        </p:txBody>
      </p:sp>
      <p:sp>
        <p:nvSpPr>
          <p:cNvPr id="3" name="Marcador de gráfico 2">
            <a:extLst>
              <a:ext uri="{FF2B5EF4-FFF2-40B4-BE49-F238E27FC236}">
                <a16:creationId xmlns:a16="http://schemas.microsoft.com/office/drawing/2014/main" id="{185F0562-4270-2042-B1D5-CAF7DABDD0AF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151563" y="1885739"/>
            <a:ext cx="5345672" cy="4293184"/>
          </a:xfrm>
          <a:prstGeom prst="rect">
            <a:avLst/>
          </a:prstGeom>
        </p:spPr>
        <p:txBody>
          <a:bodyPr/>
          <a:lstStyle>
            <a:lvl1pPr>
              <a:defRPr>
                <a:latin typeface="Visuelt Pro" panose="020B0503040202040104" pitchFamily="34" charset="0"/>
              </a:defRPr>
            </a:lvl1pPr>
          </a:lstStyle>
          <a:p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BB7C310A-8378-204B-90CA-231BD0D04605}"/>
              </a:ext>
            </a:extLst>
          </p:cNvPr>
          <p:cNvSpPr txBox="1"/>
          <p:nvPr userDrawn="1"/>
        </p:nvSpPr>
        <p:spPr>
          <a:xfrm>
            <a:off x="10907121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12" name="Marcador de texto 25">
            <a:extLst>
              <a:ext uri="{FF2B5EF4-FFF2-40B4-BE49-F238E27FC236}">
                <a16:creationId xmlns:a16="http://schemas.microsoft.com/office/drawing/2014/main" id="{21FF0CA2-4EAC-214E-B68A-3E2098B3D46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89157"/>
            <a:ext cx="4743460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bg2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13" name="Marcador de texto 25">
            <a:extLst>
              <a:ext uri="{FF2B5EF4-FFF2-40B4-BE49-F238E27FC236}">
                <a16:creationId xmlns:a16="http://schemas.microsoft.com/office/drawing/2014/main" id="{18F6060D-7439-1646-89FC-3BB88093D9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7464" y="306003"/>
            <a:ext cx="4794905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2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  <p:sp>
        <p:nvSpPr>
          <p:cNvPr id="15" name="Marcador de texto 72">
            <a:extLst>
              <a:ext uri="{FF2B5EF4-FFF2-40B4-BE49-F238E27FC236}">
                <a16:creationId xmlns:a16="http://schemas.microsoft.com/office/drawing/2014/main" id="{B36E819B-B0B5-1E42-AA60-3FAC998399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5089" y="1885739"/>
            <a:ext cx="4721161" cy="3429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1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párrafo</a:t>
            </a:r>
          </a:p>
        </p:txBody>
      </p:sp>
      <p:sp>
        <p:nvSpPr>
          <p:cNvPr id="16" name="Marcador de texto 72">
            <a:extLst>
              <a:ext uri="{FF2B5EF4-FFF2-40B4-BE49-F238E27FC236}">
                <a16:creationId xmlns:a16="http://schemas.microsoft.com/office/drawing/2014/main" id="{AE970B53-C2DA-7C41-A63E-932C247352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5090" y="2424902"/>
            <a:ext cx="4693536" cy="374729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"/>
              </a:spcBef>
              <a:buNone/>
              <a:defRPr sz="13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Texto pequeño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br>
              <a:rPr lang="es-ES" dirty="0"/>
            </a:br>
            <a:endParaRPr lang="es-ES" dirty="0"/>
          </a:p>
          <a:p>
            <a:r>
              <a:rPr lang="es-ES" dirty="0"/>
              <a:t>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 Destacado </a:t>
            </a:r>
            <a:r>
              <a:rPr lang="es-ES" dirty="0" err="1"/>
              <a:t>autem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iriure</a:t>
            </a:r>
            <a:r>
              <a:rPr lang="es-ES" dirty="0"/>
              <a:t> dolor in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,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illum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</a:t>
            </a:r>
            <a:r>
              <a:rPr lang="es-ES" dirty="0" err="1"/>
              <a:t>eu</a:t>
            </a:r>
            <a:r>
              <a:rPr lang="es-ES" dirty="0"/>
              <a:t> </a:t>
            </a:r>
            <a:r>
              <a:rPr lang="es-ES" dirty="0" err="1"/>
              <a:t>feugiat</a:t>
            </a:r>
            <a:r>
              <a:rPr lang="es-ES" dirty="0"/>
              <a:t> </a:t>
            </a:r>
            <a:r>
              <a:rPr lang="es-ES" dirty="0" err="1"/>
              <a:t>nulla</a:t>
            </a:r>
            <a:r>
              <a:rPr lang="es-ES" dirty="0"/>
              <a:t> </a:t>
            </a:r>
            <a:r>
              <a:rPr lang="es-ES" dirty="0" err="1"/>
              <a:t>facilisis</a:t>
            </a:r>
            <a:r>
              <a:rPr lang="es-ES" dirty="0"/>
              <a:t> at vero eros et </a:t>
            </a:r>
            <a:r>
              <a:rPr lang="es-ES" dirty="0" err="1"/>
              <a:t>accumsan</a:t>
            </a:r>
            <a:r>
              <a:rPr lang="es-ES" dirty="0"/>
              <a:t> et </a:t>
            </a:r>
            <a:r>
              <a:rPr lang="es-ES" dirty="0" err="1"/>
              <a:t>iusto</a:t>
            </a:r>
            <a:r>
              <a:rPr lang="es-ES" dirty="0"/>
              <a:t> odio </a:t>
            </a:r>
            <a:r>
              <a:rPr lang="es-ES" dirty="0" err="1"/>
              <a:t>dignissim</a:t>
            </a:r>
            <a:r>
              <a:rPr lang="es-ES" dirty="0"/>
              <a:t> </a:t>
            </a:r>
            <a:r>
              <a:rPr lang="es-ES" dirty="0" err="1"/>
              <a:t>qui</a:t>
            </a:r>
            <a:r>
              <a:rPr lang="es-ES" dirty="0"/>
              <a:t> </a:t>
            </a:r>
            <a:r>
              <a:rPr lang="es-ES" dirty="0" err="1"/>
              <a:t>blandit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 </a:t>
            </a:r>
            <a:r>
              <a:rPr lang="es-ES" dirty="0" err="1"/>
              <a:t>hendrerit</a:t>
            </a:r>
            <a:r>
              <a:rPr lang="es-ES" dirty="0"/>
              <a:t> in </a:t>
            </a:r>
            <a:r>
              <a:rPr lang="es-ES" dirty="0" err="1"/>
              <a:t>vulputate</a:t>
            </a:r>
            <a:r>
              <a:rPr lang="es-ES" dirty="0"/>
              <a:t>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esse</a:t>
            </a:r>
            <a:r>
              <a:rPr lang="es-ES" dirty="0"/>
              <a:t> </a:t>
            </a:r>
            <a:r>
              <a:rPr lang="es-ES" dirty="0" err="1"/>
              <a:t>molestie</a:t>
            </a:r>
            <a:r>
              <a:rPr lang="es-ES" dirty="0"/>
              <a:t> </a:t>
            </a:r>
            <a:r>
              <a:rPr lang="es-ES" dirty="0" err="1"/>
              <a:t>consequat</a:t>
            </a:r>
            <a:r>
              <a:rPr lang="es-ES" dirty="0"/>
              <a:t>.</a:t>
            </a:r>
          </a:p>
        </p:txBody>
      </p:sp>
      <p:sp>
        <p:nvSpPr>
          <p:cNvPr id="17" name="Marcador de texto 25">
            <a:extLst>
              <a:ext uri="{FF2B5EF4-FFF2-40B4-BE49-F238E27FC236}">
                <a16:creationId xmlns:a16="http://schemas.microsoft.com/office/drawing/2014/main" id="{076B0727-BD79-384E-8DC7-DBAF1B2628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4721161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</p:spTree>
    <p:extLst>
      <p:ext uri="{BB962C8B-B14F-4D97-AF65-F5344CB8AC3E}">
        <p14:creationId xmlns:p14="http://schemas.microsoft.com/office/powerpoint/2010/main" val="14470525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adroTexto 43">
            <a:extLst>
              <a:ext uri="{FF2B5EF4-FFF2-40B4-BE49-F238E27FC236}">
                <a16:creationId xmlns:a16="http://schemas.microsoft.com/office/drawing/2014/main" id="{96E9210F-E773-2543-8EEC-1DE0DE394513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16/9/20</a:t>
            </a:r>
          </a:p>
        </p:txBody>
      </p:sp>
      <p:sp>
        <p:nvSpPr>
          <p:cNvPr id="77" name="Marcador de texto 25">
            <a:extLst>
              <a:ext uri="{FF2B5EF4-FFF2-40B4-BE49-F238E27FC236}">
                <a16:creationId xmlns:a16="http://schemas.microsoft.com/office/drawing/2014/main" id="{A246425E-9EFA-A848-8A09-15535F0A6E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4743460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sp>
        <p:nvSpPr>
          <p:cNvPr id="3" name="Marcador de gráfico 2">
            <a:extLst>
              <a:ext uri="{FF2B5EF4-FFF2-40B4-BE49-F238E27FC236}">
                <a16:creationId xmlns:a16="http://schemas.microsoft.com/office/drawing/2014/main" id="{185F0562-4270-2042-B1D5-CAF7DABDD0AF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257464" y="1713870"/>
            <a:ext cx="11705935" cy="4493034"/>
          </a:xfrm>
          <a:prstGeom prst="rect">
            <a:avLst/>
          </a:prstGeom>
        </p:spPr>
        <p:txBody>
          <a:bodyPr/>
          <a:lstStyle>
            <a:lvl1pPr>
              <a:defRPr>
                <a:latin typeface="Visuelt Pro" panose="020B0503040202040104" pitchFamily="34" charset="0"/>
              </a:defRPr>
            </a:lvl1pPr>
          </a:lstStyle>
          <a:p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D58DC16-EC79-6440-A94E-67875825DDA3}"/>
              </a:ext>
            </a:extLst>
          </p:cNvPr>
          <p:cNvSpPr txBox="1"/>
          <p:nvPr userDrawn="1"/>
        </p:nvSpPr>
        <p:spPr>
          <a:xfrm>
            <a:off x="10907121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17" name="Marcador de texto 25">
            <a:extLst>
              <a:ext uri="{FF2B5EF4-FFF2-40B4-BE49-F238E27FC236}">
                <a16:creationId xmlns:a16="http://schemas.microsoft.com/office/drawing/2014/main" id="{034CA42C-4E50-2846-B4B3-FAA21F2D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89157"/>
            <a:ext cx="4743460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bg2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18" name="Marcador de texto 25">
            <a:extLst>
              <a:ext uri="{FF2B5EF4-FFF2-40B4-BE49-F238E27FC236}">
                <a16:creationId xmlns:a16="http://schemas.microsoft.com/office/drawing/2014/main" id="{4C4C77CA-E7C4-9444-AC8C-2DD982200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7464" y="306003"/>
            <a:ext cx="4794905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2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</p:spTree>
    <p:extLst>
      <p:ext uri="{BB962C8B-B14F-4D97-AF65-F5344CB8AC3E}">
        <p14:creationId xmlns:p14="http://schemas.microsoft.com/office/powerpoint/2010/main" val="35220111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adroTexto 43">
            <a:extLst>
              <a:ext uri="{FF2B5EF4-FFF2-40B4-BE49-F238E27FC236}">
                <a16:creationId xmlns:a16="http://schemas.microsoft.com/office/drawing/2014/main" id="{96E9210F-E773-2543-8EEC-1DE0DE394513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16/9/20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9516FFB-140D-7F43-8F92-D678D3213C23}"/>
              </a:ext>
            </a:extLst>
          </p:cNvPr>
          <p:cNvSpPr txBox="1"/>
          <p:nvPr userDrawn="1"/>
        </p:nvSpPr>
        <p:spPr>
          <a:xfrm>
            <a:off x="10907121" y="6399354"/>
            <a:ext cx="1056278" cy="276999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171A"/>
                </a:solidFill>
                <a:latin typeface="Arial"/>
              </a:rPr>
              <a:t>2026</a:t>
            </a:r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sp>
        <p:nvSpPr>
          <p:cNvPr id="10" name="Marcador de texto 25">
            <a:extLst>
              <a:ext uri="{FF2B5EF4-FFF2-40B4-BE49-F238E27FC236}">
                <a16:creationId xmlns:a16="http://schemas.microsoft.com/office/drawing/2014/main" id="{AC0AA867-10A7-7D46-BF36-E4FF1D0980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7464" y="6399354"/>
            <a:ext cx="4743460" cy="276999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tx1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Título presentación</a:t>
            </a:r>
          </a:p>
        </p:txBody>
      </p:sp>
      <p:sp>
        <p:nvSpPr>
          <p:cNvPr id="11" name="Marcador de texto 25">
            <a:extLst>
              <a:ext uri="{FF2B5EF4-FFF2-40B4-BE49-F238E27FC236}">
                <a16:creationId xmlns:a16="http://schemas.microsoft.com/office/drawing/2014/main" id="{E8BC292C-9D62-CF4E-912D-573826214E8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464" y="889157"/>
            <a:ext cx="4743460" cy="523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100" b="0" i="0">
                <a:solidFill>
                  <a:schemeClr val="bg2"/>
                </a:solidFill>
                <a:latin typeface="Periodico Display" panose="02000504080000020004" pitchFamily="2" charset="77"/>
                <a:cs typeface="Times New Roman" panose="02020603050405020304" pitchFamily="18" charset="0"/>
              </a:defRPr>
            </a:lvl1pPr>
          </a:lstStyle>
          <a:p>
            <a:r>
              <a:rPr lang="es-ES" dirty="0"/>
              <a:t>Título </a:t>
            </a:r>
            <a:r>
              <a:rPr lang="es-ES" dirty="0" err="1"/>
              <a:t>slide</a:t>
            </a:r>
            <a:endParaRPr lang="es-ES" dirty="0"/>
          </a:p>
        </p:txBody>
      </p:sp>
      <p:sp>
        <p:nvSpPr>
          <p:cNvPr id="12" name="Marcador de texto 25">
            <a:extLst>
              <a:ext uri="{FF2B5EF4-FFF2-40B4-BE49-F238E27FC236}">
                <a16:creationId xmlns:a16="http://schemas.microsoft.com/office/drawing/2014/main" id="{0C50A9C2-B17E-7B4C-86D3-D8EE0654C9C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7464" y="306003"/>
            <a:ext cx="4794905" cy="28208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1200" b="0">
                <a:solidFill>
                  <a:schemeClr val="bg2"/>
                </a:solidFill>
                <a:latin typeface="Visuelt Pro" panose="020B0503040202040104" pitchFamily="34" charset="0"/>
              </a:defRPr>
            </a:lvl1pPr>
          </a:lstStyle>
          <a:p>
            <a:r>
              <a:rPr lang="es-ES" dirty="0"/>
              <a:t>00. Título capítulo</a:t>
            </a:r>
          </a:p>
        </p:txBody>
      </p:sp>
    </p:spTree>
    <p:extLst>
      <p:ext uri="{BB962C8B-B14F-4D97-AF65-F5344CB8AC3E}">
        <p14:creationId xmlns:p14="http://schemas.microsoft.com/office/powerpoint/2010/main" val="20595872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Relationship Id="rId4" Type="http://schemas.openxmlformats.org/officeDocument/2006/relationships/image" Target="../media/image3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theme" Target="../theme/theme5.xml"/><Relationship Id="rId5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0152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94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texto 13">
            <a:extLst>
              <a:ext uri="{FF2B5EF4-FFF2-40B4-BE49-F238E27FC236}">
                <a16:creationId xmlns:a16="http://schemas.microsoft.com/office/drawing/2014/main" id="{0747F716-090E-B946-B4CB-5827382B29E0}"/>
              </a:ext>
            </a:extLst>
          </p:cNvPr>
          <p:cNvSpPr txBox="1">
            <a:spLocks/>
          </p:cNvSpPr>
          <p:nvPr userDrawn="1"/>
        </p:nvSpPr>
        <p:spPr>
          <a:xfrm>
            <a:off x="8752475" y="6476458"/>
            <a:ext cx="3139920" cy="151732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200" b="1" i="0" kern="1200" spc="0" baseline="0">
                <a:solidFill>
                  <a:schemeClr val="accent4"/>
                </a:solidFill>
                <a:latin typeface="FS Pimlico" panose="02000506060000020004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0ECEC12-63F7-EE49-8F2F-F20D400E7432}"/>
              </a:ext>
            </a:extLst>
          </p:cNvPr>
          <p:cNvSpPr txBox="1"/>
          <p:nvPr userDrawn="1"/>
        </p:nvSpPr>
        <p:spPr>
          <a:xfrm>
            <a:off x="10915587" y="6399354"/>
            <a:ext cx="10562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36E1CEB-2839-3B40-8977-39DC6F2447A7}" type="datetime1">
              <a:rPr lang="es-ES" sz="1200" b="0" i="0" smtClean="0">
                <a:solidFill>
                  <a:schemeClr val="tx1"/>
                </a:solidFill>
                <a:latin typeface="Visuelt Pro" panose="020B0503040202040104" pitchFamily="34" charset="0"/>
                <a:cs typeface="Arial" panose="020B0604020202020204" pitchFamily="34" charset="0"/>
              </a:rPr>
              <a:t>09/03/2022</a:t>
            </a:fld>
            <a:endParaRPr lang="es-ES" sz="1200" b="0" i="0" dirty="0">
              <a:solidFill>
                <a:schemeClr val="tx1"/>
              </a:solidFill>
              <a:latin typeface="Visuelt Pro" panose="020B05030402020401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54D6626-89B3-4C4C-8784-DAC496715A1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965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58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750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81" r:id="rId2"/>
    <p:sldLayoutId id="2147483686" r:id="rId3"/>
    <p:sldLayoutId id="2147483687" r:id="rId4"/>
    <p:sldLayoutId id="2147483714" r:id="rId5"/>
    <p:sldLayoutId id="2147483682" r:id="rId6"/>
    <p:sldLayoutId id="2147483693" r:id="rId7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9456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702" r:id="rId2"/>
    <p:sldLayoutId id="2147483703" r:id="rId3"/>
    <p:sldLayoutId id="2147483704" r:id="rId4"/>
    <p:sldLayoutId id="2147483705" r:id="rId5"/>
    <p:sldLayoutId id="2147483715" r:id="rId6"/>
    <p:sldLayoutId id="2147483716" r:id="rId7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FBBFDA9-87ED-7D4D-9C52-65C4019581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857743" y="126162"/>
            <a:ext cx="1205070" cy="60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541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57200"/>
            <a:ext cx="7086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640080"/>
            <a:ext cx="530352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4F12"/>
                </a:solidFill>
                <a:latin typeface="Arial"/>
              </a:rPr>
              <a:t>TRABAJO FIN DE MÁSTER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6446520" cy="84124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6171A"/>
                </a:solidFill>
                <a:latin typeface="Arial"/>
              </a:rPr>
              <a:t>Segmentación de tumores cerebrales
en resonancia magnética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737360"/>
            <a:ext cx="626364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16468"/>
                </a:solidFill>
                <a:latin typeface="Arial"/>
              </a:rPr>
              <a:t>mediante arquitecturas Transformer-UNet híbridas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48256"/>
            <a:ext cx="301752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71A"/>
                </a:solidFill>
                <a:latin typeface="Arial"/>
              </a:rPr>
              <a:t>Jesús Ferrón Rubio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99232" y="2048256"/>
            <a:ext cx="4114800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16468"/>
                </a:solidFill>
                <a:latin typeface="Arial"/>
              </a:rPr>
              <a:t>Máster Universitario en Big Data y Ciencia de Datos · Curso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698480" cy="1463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Arial"/>
              </a:rPr>
              <a:t>Directora: Yudith Coromoto Cardinale Villarreal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MAPA DE LA DEFENSA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Tres ideas para llevarse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27632"/>
            <a:ext cx="3401568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F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1828800"/>
            <a:ext cx="566928" cy="566928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2834640" cy="3931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171A"/>
                </a:solidFill>
                <a:latin typeface="Arial"/>
              </a:rPr>
              <a:t>Pregunta controlada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36392"/>
            <a:ext cx="2880360" cy="1600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616468"/>
                </a:solidFill>
                <a:latin typeface="Arial"/>
              </a:rPr>
              <a:t>Solo cambia la regla de fusión; la Residual U-Net 3D, los datos y el entrenamiento permanecen fijos.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65192"/>
            <a:ext cx="1920240" cy="320040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FD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DISEÑO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27632"/>
            <a:ext cx="3401568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F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36008" y="1828800"/>
            <a:ext cx="566928" cy="566928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2834640" cy="3931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171A"/>
                </a:solidFill>
                <a:latin typeface="Arial"/>
              </a:rPr>
              <a:t>Resultado negativo útil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136392"/>
            <a:ext cx="2880360" cy="1600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616468"/>
                </a:solidFill>
                <a:latin typeface="Arial"/>
              </a:rPr>
              <a:t>Las compuertas adaptativas rondan 0,59 Dice y son inestables; concatenación y ponderación global alcanzan 0,706.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4965192"/>
            <a:ext cx="1920240" cy="320040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FD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EVIDENCIA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627632"/>
            <a:ext cx="3401568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F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30768" y="1828800"/>
            <a:ext cx="566928" cy="566928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606040"/>
            <a:ext cx="2834640" cy="3931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171A"/>
                </a:solidFill>
                <a:latin typeface="Arial"/>
              </a:rPr>
              <a:t>Alcance prudente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36392"/>
            <a:ext cx="2880360" cy="1600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616468"/>
                </a:solidFill>
                <a:latin typeface="Arial"/>
              </a:rPr>
              <a:t>La evidencia compara configuraciones dentro de BraTS-GLI; no demuestra generalización por paciente ni utilidad clínica.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4965192"/>
            <a:ext cx="1920240" cy="320040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FD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LÍMITES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01 ·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Delimitar un glioma es una tarea tridimensional y multimodal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92040" y="1874519"/>
            <a:ext cx="2331720" cy="2331720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3D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4343400"/>
            <a:ext cx="2788920" cy="25603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71A"/>
                </a:solidFill>
                <a:latin typeface="Arial"/>
              </a:rPr>
              <a:t>Volumen completo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32461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19656"/>
            <a:ext cx="283464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64F12"/>
                </a:solidFill>
                <a:latin typeface="Arial"/>
              </a:rPr>
              <a:t>MANUAL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2834640" cy="56692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6171A"/>
                </a:solidFill>
                <a:latin typeface="Arial"/>
              </a:rPr>
              <a:t>Lenta, experta y sujeta a variabilidad entre observadores.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02752" y="1691640"/>
            <a:ext cx="32461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67344" y="1819656"/>
            <a:ext cx="283464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64F12"/>
                </a:solidFill>
                <a:latin typeface="Arial"/>
              </a:rPr>
              <a:t>HETEROGÉNEA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4" y="2121408"/>
            <a:ext cx="2834640" cy="56692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6171A"/>
                </a:solidFill>
                <a:latin typeface="Arial"/>
              </a:rPr>
              <a:t>Los límites y la señal cambian entre subregiones y estudios.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370832"/>
            <a:ext cx="32461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498848"/>
            <a:ext cx="283464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64F12"/>
                </a:solidFill>
                <a:latin typeface="Arial"/>
              </a:rPr>
              <a:t>MULTIMODAL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800600"/>
            <a:ext cx="2834640" cy="56692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6171A"/>
                </a:solidFill>
                <a:latin typeface="Arial"/>
              </a:rPr>
              <a:t>Ninguna secuencia resume por sí sola toda la lesión.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2752" y="4370832"/>
            <a:ext cx="32461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4" y="4498848"/>
            <a:ext cx="283464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64F12"/>
                </a:solidFill>
                <a:latin typeface="Arial"/>
              </a:rPr>
              <a:t>GENERALIZACIÓN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4800600"/>
            <a:ext cx="2834640" cy="56692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6171A"/>
                </a:solidFill>
                <a:latin typeface="Arial"/>
              </a:rPr>
              <a:t>El rendimiento puede caer entre centros, protocolos y poblaciones.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10698480" cy="1463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Contexto: Langen et al. (2017); Kouli et al. (2022); Khalighi et al. (2024)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01 ·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Cuatro secuencias de entrada; tres regiones anidadas de salida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27632"/>
            <a:ext cx="2487168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94944" y="1810512"/>
            <a:ext cx="658368" cy="658368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T1n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65376"/>
            <a:ext cx="1353312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6171A"/>
                </a:solidFill>
                <a:latin typeface="Arial"/>
              </a:rPr>
              <a:t>Referencia anatómica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627632"/>
            <a:ext cx="2487168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7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483864" y="1810512"/>
            <a:ext cx="658368" cy="658368"/>
          </a:xfrm>
          <a:prstGeom prst="ellipse">
            <a:avLst/>
          </a:prstGeom>
          <a:solidFill>
            <a:srgbClr val="EB7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T1c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865376"/>
            <a:ext cx="1353312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6171A"/>
                </a:solidFill>
                <a:latin typeface="Arial"/>
              </a:rPr>
              <a:t>Realce tras contraste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627632"/>
            <a:ext cx="2487168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19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72783" y="1810512"/>
            <a:ext cx="658368" cy="658368"/>
          </a:xfrm>
          <a:prstGeom prst="ellipse">
            <a:avLst/>
          </a:prstGeom>
          <a:solidFill>
            <a:srgbClr val="F19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T2w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1865376"/>
            <a:ext cx="1353312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6171A"/>
                </a:solidFill>
                <a:latin typeface="Arial"/>
              </a:rPr>
              <a:t>Contenido de agua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399" y="1627632"/>
            <a:ext cx="2487168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B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61703" y="1810512"/>
            <a:ext cx="658368" cy="658368"/>
          </a:xfrm>
          <a:prstGeom prst="ellipse">
            <a:avLst/>
          </a:prstGeom>
          <a:solidFill>
            <a:srgbClr val="F5B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FLAIR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799" y="1865376"/>
            <a:ext cx="1353312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6171A"/>
                </a:solidFill>
                <a:latin typeface="Arial"/>
              </a:rPr>
              <a:t>Componente periférico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3154680"/>
            <a:ext cx="356616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64F12"/>
                </a:solidFill>
                <a:latin typeface="Arial"/>
              </a:rPr>
              <a:t>Fusión multimodal</a:t>
            </a:r>
          </a:p>
        </p:txBody>
      </p:sp>
      <p:sp>
        <p:nvSpPr>
          <p:cNvPr id="18" name="Chevron 17"/>
          <p:cNvSpPr/>
          <p:nvPr/>
        </p:nvSpPr>
        <p:spPr>
          <a:xfrm>
            <a:off x="5102352" y="3575304"/>
            <a:ext cx="384048" cy="438912"/>
          </a:xfrm>
          <a:prstGeom prst="chevron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5760720" y="3575304"/>
            <a:ext cx="384048" cy="438912"/>
          </a:xfrm>
          <a:prstGeom prst="chevron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/>
          <p:cNvSpPr/>
          <p:nvPr/>
        </p:nvSpPr>
        <p:spPr>
          <a:xfrm>
            <a:off x="6419088" y="3575304"/>
            <a:ext cx="384048" cy="438912"/>
          </a:xfrm>
          <a:prstGeom prst="chevron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33856" y="4251960"/>
            <a:ext cx="3246120" cy="1261872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98448" y="4507992"/>
            <a:ext cx="658368" cy="658368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93976" y="4425696"/>
            <a:ext cx="19659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171A"/>
                </a:solidFill>
                <a:latin typeface="Arial"/>
              </a:rPr>
              <a:t>Tumor realzante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976" y="4782312"/>
            <a:ext cx="1965960" cy="2377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16468"/>
                </a:solidFill>
                <a:latin typeface="Arial"/>
              </a:rPr>
              <a:t>Etiquetas BraTS {3}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64608" y="4251960"/>
            <a:ext cx="3246120" cy="1261872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EB7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0" y="4507992"/>
            <a:ext cx="658368" cy="658368"/>
          </a:xfrm>
          <a:prstGeom prst="ellipse">
            <a:avLst/>
          </a:prstGeom>
          <a:solidFill>
            <a:srgbClr val="EB7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4728" y="4425696"/>
            <a:ext cx="19659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171A"/>
                </a:solidFill>
                <a:latin typeface="Arial"/>
              </a:rPr>
              <a:t>Núcleo tumoral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4728" y="4782312"/>
            <a:ext cx="1965960" cy="2377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16468"/>
                </a:solidFill>
                <a:latin typeface="Arial"/>
              </a:rPr>
              <a:t>Etiquetas BraTS {1, 3, 4}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0" y="4251960"/>
            <a:ext cx="3246120" cy="1261872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F19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59952" y="4507992"/>
            <a:ext cx="658368" cy="658368"/>
          </a:xfrm>
          <a:prstGeom prst="ellipse">
            <a:avLst/>
          </a:prstGeom>
          <a:solidFill>
            <a:srgbClr val="F19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WT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5480" y="4425696"/>
            <a:ext cx="19659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171A"/>
                </a:solidFill>
                <a:latin typeface="Arial"/>
              </a:rPr>
              <a:t>Tumor completo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4782312"/>
            <a:ext cx="1965960" cy="2377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16468"/>
                </a:solidFill>
                <a:latin typeface="Arial"/>
              </a:rPr>
              <a:t>Etiquetas BraTS {1, 2, 3, 4}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9472" y="5779008"/>
            <a:ext cx="2377440" cy="2743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43A"/>
                </a:solidFill>
                <a:latin typeface="Arial"/>
              </a:rPr>
              <a:t>ET ⊂ TC ⊂ WT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10698480" cy="1463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Convención regional de BraTS-GLI 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48640"/>
            <a:ext cx="457200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PREGUNTA DE INVESTIGACIÓN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698480" cy="21031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¿Puede una ponderación explícita y ligera de las modalidades mejorar de forma consistente la segmentación 3D frente a la concatenación?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3822191"/>
            <a:ext cx="8458200" cy="4114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Manteniendo fija la Residual U-Net 3D y un coste computacional asumible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27248" y="4645152"/>
            <a:ext cx="59436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64F12"/>
                </a:solidFill>
                <a:latin typeface="Arial"/>
              </a:rPr>
              <a:t>Hipótesis: la adaptación por entrada aportará una mejora reproducible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02 · DISEÑO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Un experimento de ablación: una variable cambia y el resto se congela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98848" y="2084831"/>
            <a:ext cx="3520440" cy="34747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SOLO CAMBIA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2514600"/>
            <a:ext cx="4069080" cy="71323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LA FUSIÓN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554480"/>
            <a:ext cx="493776" cy="493776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45336"/>
            <a:ext cx="242316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171A"/>
                </a:solidFill>
                <a:latin typeface="Arial"/>
              </a:rPr>
              <a:t>Residual U-Net 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56231"/>
            <a:ext cx="2331720" cy="21945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16468"/>
                </a:solidFill>
                <a:latin typeface="Arial"/>
              </a:rPr>
              <a:t>≈1,19 M parámetros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05256" y="2057400"/>
            <a:ext cx="0" cy="484632"/>
          </a:xfrm>
          <a:prstGeom prst="line">
            <a:avLst/>
          </a:prstGeom>
          <a:ln>
            <a:solidFill>
              <a:srgbClr val="CDCF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58368" y="2578608"/>
            <a:ext cx="493776" cy="493776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569464"/>
            <a:ext cx="242316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171A"/>
                </a:solidFill>
                <a:latin typeface="Arial"/>
              </a:rPr>
              <a:t>Datos y particiones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880360"/>
            <a:ext cx="2331720" cy="21945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16468"/>
                </a:solidFill>
                <a:latin typeface="Arial"/>
              </a:rPr>
              <a:t>Mismo train / val / test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256" y="3081528"/>
            <a:ext cx="0" cy="484632"/>
          </a:xfrm>
          <a:prstGeom prst="line">
            <a:avLst/>
          </a:prstGeom>
          <a:ln>
            <a:solidFill>
              <a:srgbClr val="CDCF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58368" y="3602736"/>
            <a:ext cx="493776" cy="493776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593592"/>
            <a:ext cx="242316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171A"/>
                </a:solidFill>
                <a:latin typeface="Arial"/>
              </a:rPr>
              <a:t>Entrenamiento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904488"/>
            <a:ext cx="2331720" cy="21945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16468"/>
                </a:solidFill>
                <a:latin typeface="Arial"/>
              </a:rPr>
              <a:t>15.000 pasos · misma pérdida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" y="4105656"/>
            <a:ext cx="0" cy="484632"/>
          </a:xfrm>
          <a:prstGeom prst="line">
            <a:avLst/>
          </a:prstGeom>
          <a:ln>
            <a:solidFill>
              <a:srgbClr val="CDCF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58368" y="4626864"/>
            <a:ext cx="493776" cy="493776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617720"/>
            <a:ext cx="242316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171A"/>
                </a:solidFill>
                <a:latin typeface="Arial"/>
              </a:rPr>
              <a:t>Evaluación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928616"/>
            <a:ext cx="2331720" cy="21945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16468"/>
                </a:solidFill>
                <a:latin typeface="Arial"/>
              </a:rPr>
              <a:t>Dice y HD95 en 243 estudios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846320"/>
            <a:ext cx="47548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171A"/>
                </a:solidFill>
                <a:latin typeface="Arial"/>
              </a:rPr>
              <a:t>4 estrategias × 3 semillas = 12 entrenamientos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02 · DISEÑO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BraTS-GLI 2024: control de calidad y particiones reproducibles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2834640" cy="6583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64F12"/>
                </a:solidFill>
                <a:latin typeface="Arial"/>
              </a:rPr>
              <a:t>1.621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67128"/>
            <a:ext cx="3108960" cy="6217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171A"/>
                </a:solidFill>
                <a:latin typeface="Arial"/>
              </a:rPr>
              <a:t>estudios post-tratamiento con 4 modalidades y máscara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3273552" cy="1078992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FD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2724912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7D32"/>
                </a:solidFill>
                <a:latin typeface="Arial"/>
              </a:rPr>
              <a:t>QC: 1.621 / 1.621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575304"/>
            <a:ext cx="2724912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16468"/>
                </a:solidFill>
                <a:latin typeface="Arial"/>
              </a:rPr>
              <a:t>modalidades, geometría, afín y etiquetas válidas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1965960"/>
            <a:ext cx="4640579" cy="658368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TRAIN
1.135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47988" y="1965960"/>
            <a:ext cx="994409" cy="658368"/>
          </a:xfrm>
          <a:prstGeom prst="rect">
            <a:avLst/>
          </a:prstGeom>
          <a:solidFill>
            <a:srgbClr val="F19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VAL
243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2398" y="1965960"/>
            <a:ext cx="994409" cy="658368"/>
          </a:xfrm>
          <a:prstGeom prst="rect">
            <a:avLst/>
          </a:prstGeom>
          <a:solidFill>
            <a:srgbClr val="CDC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71A"/>
                </a:solidFill>
                <a:latin typeface="Arial"/>
              </a:rPr>
              <a:t>TEST
243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1627632"/>
            <a:ext cx="454914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64F12"/>
                </a:solidFill>
                <a:latin typeface="Arial"/>
              </a:rPr>
              <a:t>70 %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7988" y="1627632"/>
            <a:ext cx="994409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19672"/>
                </a:solidFill>
                <a:latin typeface="Arial"/>
              </a:rPr>
              <a:t>15 %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42398" y="1627632"/>
            <a:ext cx="994409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16468"/>
                </a:solidFill>
                <a:latin typeface="Arial"/>
              </a:rPr>
              <a:t>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3108960"/>
            <a:ext cx="192024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171A"/>
                </a:solidFill>
                <a:latin typeface="Arial"/>
              </a:rPr>
              <a:t>Estratificación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520440"/>
            <a:ext cx="1755648" cy="475488"/>
          </a:xfrm>
          <a:prstGeom prst="roundRect">
            <a:avLst/>
          </a:prstGeom>
          <a:solidFill>
            <a:srgbClr val="F3F3F2"/>
          </a:solidFill>
          <a:ln w="12700">
            <a:solidFill>
              <a:srgbClr val="CDCF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171A"/>
                </a:solidFill>
                <a:latin typeface="Arial"/>
              </a:rPr>
              <a:t>origen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3520440"/>
            <a:ext cx="1755648" cy="475488"/>
          </a:xfrm>
          <a:prstGeom prst="roundRect">
            <a:avLst/>
          </a:prstGeom>
          <a:solidFill>
            <a:srgbClr val="F3F3F2"/>
          </a:solidFill>
          <a:ln w="12700">
            <a:solidFill>
              <a:srgbClr val="CDCF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171A"/>
                </a:solidFill>
                <a:latin typeface="Arial"/>
              </a:rPr>
              <a:t>presencia de 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94192" y="3520440"/>
            <a:ext cx="1755648" cy="475488"/>
          </a:xfrm>
          <a:prstGeom prst="roundRect">
            <a:avLst/>
          </a:prstGeom>
          <a:solidFill>
            <a:srgbClr val="F3F3F2"/>
          </a:solidFill>
          <a:ln w="12700">
            <a:solidFill>
              <a:srgbClr val="CDCF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171A"/>
                </a:solidFill>
                <a:latin typeface="Arial"/>
              </a:rPr>
              <a:t>cuartil de WT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443984"/>
            <a:ext cx="662940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6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617720"/>
            <a:ext cx="150876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2418"/>
                </a:solidFill>
                <a:latin typeface="Arial"/>
              </a:rPr>
              <a:t>LÍMITE DE VALIDEZ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4581144"/>
            <a:ext cx="4636008" cy="58521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171A"/>
                </a:solidFill>
                <a:latin typeface="Arial"/>
              </a:rPr>
              <a:t>La separación es por estudio, no por paciente: el test compara configuraciones, pero no estima de forma independiente la generalización a sujetos nuevos.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10698480" cy="1463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Fuente: outputs/qc/brats_gli_2024_qc_summary.json y manifiesto de particiones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03 · IMPLEMENTACIÓN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Un flujo común de datos, predicción y evaluación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pipeline_fluj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009" y="1344168"/>
            <a:ext cx="7605517" cy="48920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1618488"/>
            <a:ext cx="1298448" cy="1033271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FD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4F12"/>
                </a:solidFill>
                <a:latin typeface="Arial"/>
              </a:rPr>
              <a:t>YAML
versionados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52928"/>
            <a:ext cx="1298448" cy="1033271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FD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4F12"/>
                </a:solidFill>
                <a:latin typeface="Arial"/>
              </a:rPr>
              <a:t>CLI
5 comandos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87368"/>
            <a:ext cx="1298448" cy="1033271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FD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4F12"/>
                </a:solidFill>
                <a:latin typeface="Arial"/>
              </a:rPr>
              <a:t>Artefactos
trazables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0698480" cy="1463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Fuente: Figura 1 de la memoria · implementación en tfm_brats/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03 · IMPLEMENTACIÓN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Cuatro estrategias de fusión antes del mismo codificador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arquitectura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300" y="1325880"/>
            <a:ext cx="6644640" cy="4983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920240"/>
            <a:ext cx="1188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71A"/>
                </a:solidFill>
                <a:latin typeface="Arial"/>
              </a:rPr>
              <a:t>0
parámetros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17520"/>
            <a:ext cx="1188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7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71A"/>
                </a:solidFill>
                <a:latin typeface="Arial"/>
              </a:rPr>
              <a:t>+4
parámetros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61320" y="1920240"/>
            <a:ext cx="111556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19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71A"/>
                </a:solidFill>
                <a:latin typeface="Arial"/>
              </a:rPr>
              <a:t>+76
parámetros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61320" y="3017520"/>
            <a:ext cx="111556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B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71A"/>
                </a:solidFill>
                <a:latin typeface="Arial"/>
              </a:rPr>
              <a:t>+108
parámetros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0698480" cy="1463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Fuente: Figura 2 de la memoria · configuración final de FusionUNet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04 · EVALUACIÓN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Protocolo común: repetir, congelar y medir por región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508760"/>
            <a:ext cx="502920" cy="502920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499616"/>
            <a:ext cx="182880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171A"/>
                </a:solidFill>
                <a:latin typeface="Arial"/>
              </a:rPr>
              <a:t>Entrenar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792" y="1508760"/>
            <a:ext cx="2788920" cy="2834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16468"/>
                </a:solidFill>
                <a:latin typeface="Arial"/>
              </a:rPr>
              <a:t>15.000 pasos por semilla</a:t>
            </a:r>
          </a:p>
        </p:txBody>
      </p:sp>
      <p:sp>
        <p:nvSpPr>
          <p:cNvPr id="8" name="Chevron 7"/>
          <p:cNvSpPr/>
          <p:nvPr/>
        </p:nvSpPr>
        <p:spPr>
          <a:xfrm>
            <a:off x="722376" y="2103120"/>
            <a:ext cx="256032" cy="274320"/>
          </a:xfrm>
          <a:prstGeom prst="chevron">
            <a:avLst/>
          </a:prstGeom>
          <a:solidFill>
            <a:srgbClr val="CDC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496312"/>
            <a:ext cx="502920" cy="502920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487168"/>
            <a:ext cx="182880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171A"/>
                </a:solidFill>
                <a:latin typeface="Arial"/>
              </a:rPr>
              <a:t>Seleccionar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2" y="2496312"/>
            <a:ext cx="2788920" cy="2834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16468"/>
                </a:solidFill>
                <a:latin typeface="Arial"/>
              </a:rPr>
              <a:t>mejor checkpoint con validación</a:t>
            </a:r>
          </a:p>
        </p:txBody>
      </p:sp>
      <p:sp>
        <p:nvSpPr>
          <p:cNvPr id="12" name="Chevron 11"/>
          <p:cNvSpPr/>
          <p:nvPr/>
        </p:nvSpPr>
        <p:spPr>
          <a:xfrm>
            <a:off x="722376" y="3090672"/>
            <a:ext cx="256032" cy="274320"/>
          </a:xfrm>
          <a:prstGeom prst="chevron">
            <a:avLst/>
          </a:prstGeom>
          <a:solidFill>
            <a:srgbClr val="CDC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3483864"/>
            <a:ext cx="502920" cy="502920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3474720"/>
            <a:ext cx="182880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171A"/>
                </a:solidFill>
                <a:latin typeface="Arial"/>
              </a:rPr>
              <a:t>Congelar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3483864"/>
            <a:ext cx="2788920" cy="2834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16468"/>
                </a:solidFill>
                <a:latin typeface="Arial"/>
              </a:rPr>
              <a:t>test no interviene en la selección</a:t>
            </a:r>
          </a:p>
        </p:txBody>
      </p:sp>
      <p:sp>
        <p:nvSpPr>
          <p:cNvPr id="16" name="Chevron 15"/>
          <p:cNvSpPr/>
          <p:nvPr/>
        </p:nvSpPr>
        <p:spPr>
          <a:xfrm>
            <a:off x="722376" y="4078224"/>
            <a:ext cx="256032" cy="274320"/>
          </a:xfrm>
          <a:prstGeom prst="chevron">
            <a:avLst/>
          </a:prstGeom>
          <a:solidFill>
            <a:srgbClr val="CDC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4471416"/>
            <a:ext cx="502920" cy="502920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4462272"/>
            <a:ext cx="182880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171A"/>
                </a:solidFill>
                <a:latin typeface="Arial"/>
              </a:rPr>
              <a:t>Inferir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7792" y="4471416"/>
            <a:ext cx="2788920" cy="2834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16468"/>
                </a:solidFill>
                <a:latin typeface="Arial"/>
              </a:rPr>
              <a:t>ventana deslizante sobre 243 estudios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481328"/>
            <a:ext cx="1828800" cy="2377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4F12"/>
                </a:solidFill>
                <a:latin typeface="Arial"/>
              </a:rPr>
              <a:t>MÉTRICAS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1874519"/>
            <a:ext cx="2267712" cy="694944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FD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8544" y="1947672"/>
            <a:ext cx="2011680" cy="21945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64F12"/>
                </a:solidFill>
                <a:latin typeface="Arial"/>
              </a:rPr>
              <a:t>Dice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2194560"/>
            <a:ext cx="2011680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6171A"/>
                </a:solidFill>
                <a:latin typeface="Arial"/>
              </a:rPr>
              <a:t>Solapamiento; 1 es coincidencia perfecta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4272" y="1874519"/>
            <a:ext cx="2267712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62288" y="1947672"/>
            <a:ext cx="2011680" cy="21945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64F12"/>
                </a:solidFill>
                <a:latin typeface="Arial"/>
              </a:rPr>
              <a:t>HD95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2194560"/>
            <a:ext cx="2011680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6171A"/>
                </a:solidFill>
                <a:latin typeface="Arial"/>
              </a:rPr>
              <a:t>Discrepancia de superficie en milímetros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3063240"/>
            <a:ext cx="4663440" cy="47548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ET · TC · WT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0528" y="3794760"/>
            <a:ext cx="4800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171A"/>
                </a:solidFill>
                <a:latin typeface="Arial"/>
              </a:rPr>
              <a:t>3 semillas por configuración
media ± desviación estándar poblacional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029200"/>
            <a:ext cx="470916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16468"/>
                </a:solidFill>
                <a:latin typeface="Arial"/>
              </a:rPr>
              <a:t>Métrica principal de decisión: Dice medio de ET, TC y WT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Resultado central: la fusión adaptativa no mejora de forma consistente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097280" y="1645920"/>
            <a:ext cx="0" cy="3520440"/>
          </a:xfrm>
          <a:prstGeom prst="line">
            <a:avLst/>
          </a:prstGeom>
          <a:ln>
            <a:solidFill>
              <a:srgbClr val="6164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97280" y="5166360"/>
            <a:ext cx="6949440" cy="0"/>
          </a:xfrm>
          <a:prstGeom prst="line">
            <a:avLst/>
          </a:prstGeom>
          <a:ln>
            <a:solidFill>
              <a:srgbClr val="6164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80" y="4462272"/>
            <a:ext cx="6949440" cy="0"/>
          </a:xfrm>
          <a:prstGeom prst="line">
            <a:avLst/>
          </a:prstGeom>
          <a:ln>
            <a:solidFill>
              <a:srgbClr val="CDCFC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4370832"/>
            <a:ext cx="411480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16468"/>
                </a:solidFill>
                <a:latin typeface="Arial"/>
              </a:rPr>
              <a:t>0,4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97280" y="3758184"/>
            <a:ext cx="6949440" cy="0"/>
          </a:xfrm>
          <a:prstGeom prst="line">
            <a:avLst/>
          </a:prstGeom>
          <a:ln>
            <a:solidFill>
              <a:srgbClr val="CDCFC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3666744"/>
            <a:ext cx="411480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16468"/>
                </a:solidFill>
                <a:latin typeface="Arial"/>
              </a:rPr>
              <a:t>0,5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97280" y="3054096"/>
            <a:ext cx="6949440" cy="0"/>
          </a:xfrm>
          <a:prstGeom prst="line">
            <a:avLst/>
          </a:prstGeom>
          <a:ln>
            <a:solidFill>
              <a:srgbClr val="CDCFC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2962656"/>
            <a:ext cx="411480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16468"/>
                </a:solidFill>
                <a:latin typeface="Arial"/>
              </a:rPr>
              <a:t>0,6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7280" y="2350008"/>
            <a:ext cx="6949440" cy="0"/>
          </a:xfrm>
          <a:prstGeom prst="line">
            <a:avLst/>
          </a:prstGeom>
          <a:ln>
            <a:solidFill>
              <a:srgbClr val="CDCFC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4360" y="2258568"/>
            <a:ext cx="411480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16468"/>
                </a:solidFill>
                <a:latin typeface="Arial"/>
              </a:rPr>
              <a:t>0,7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" y="1645919"/>
            <a:ext cx="6949440" cy="0"/>
          </a:xfrm>
          <a:prstGeom prst="line">
            <a:avLst/>
          </a:prstGeom>
          <a:ln>
            <a:solidFill>
              <a:srgbClr val="CDCFC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4360" y="1554479"/>
            <a:ext cx="411480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16468"/>
                </a:solidFill>
                <a:latin typeface="Arial"/>
              </a:rPr>
              <a:t>0,8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29003" y="2308466"/>
            <a:ext cx="1048816" cy="2857893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2153412" y="2269741"/>
            <a:ext cx="0" cy="77450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22672" y="2269741"/>
            <a:ext cx="461479" cy="0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22672" y="2347191"/>
            <a:ext cx="461479" cy="0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555851" y="2025002"/>
            <a:ext cx="119512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171A"/>
                </a:solidFill>
                <a:latin typeface="Arial"/>
              </a:rPr>
              <a:t>0,706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0403" y="5257800"/>
            <a:ext cx="1506016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16171A"/>
                </a:solidFill>
                <a:latin typeface="Arial"/>
              </a:rPr>
              <a:t>Concatenación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20643" y="2309874"/>
            <a:ext cx="1048816" cy="2856485"/>
          </a:xfrm>
          <a:prstGeom prst="rect">
            <a:avLst/>
          </a:prstGeom>
          <a:solidFill>
            <a:srgbClr val="EB7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845052" y="2264109"/>
            <a:ext cx="0" cy="91531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14312" y="2264109"/>
            <a:ext cx="461479" cy="0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614312" y="2355640"/>
            <a:ext cx="461479" cy="0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47491" y="2026410"/>
            <a:ext cx="119512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171A"/>
                </a:solidFill>
                <a:latin typeface="Arial"/>
              </a:rPr>
              <a:t>0,706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92043" y="5257800"/>
            <a:ext cx="1506016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16171A"/>
                </a:solidFill>
                <a:latin typeface="Arial"/>
              </a:rPr>
              <a:t>Ponderación
global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12283" y="3151260"/>
            <a:ext cx="1048816" cy="2015099"/>
          </a:xfrm>
          <a:prstGeom prst="rect">
            <a:avLst/>
          </a:prstGeom>
          <a:solidFill>
            <a:srgbClr val="F19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536692" y="1961351"/>
            <a:ext cx="0" cy="2379817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05952" y="1961351"/>
            <a:ext cx="461479" cy="0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05952" y="4341168"/>
            <a:ext cx="461479" cy="0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939131" y="2867796"/>
            <a:ext cx="119512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171A"/>
                </a:solidFill>
                <a:latin typeface="Arial"/>
              </a:rPr>
              <a:t>0,586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83683" y="5257800"/>
            <a:ext cx="1506016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16171A"/>
                </a:solidFill>
                <a:latin typeface="Arial"/>
              </a:rPr>
              <a:t>Compuerta
media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03923" y="3113239"/>
            <a:ext cx="1048816" cy="2053120"/>
          </a:xfrm>
          <a:prstGeom prst="rect">
            <a:avLst/>
          </a:prstGeom>
          <a:solidFill>
            <a:srgbClr val="F5B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228332" y="1906432"/>
            <a:ext cx="0" cy="2413614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97592" y="1906432"/>
            <a:ext cx="461479" cy="0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997592" y="4320046"/>
            <a:ext cx="461479" cy="0"/>
          </a:xfrm>
          <a:prstGeom prst="line">
            <a:avLst/>
          </a:prstGeom>
          <a:ln w="19050">
            <a:solidFill>
              <a:srgbClr val="1617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630771" y="2829775"/>
            <a:ext cx="119512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171A"/>
                </a:solidFill>
                <a:latin typeface="Arial"/>
              </a:rPr>
              <a:t>0,592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5323" y="5257800"/>
            <a:ext cx="1506016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16171A"/>
                </a:solidFill>
                <a:latin typeface="Arial"/>
              </a:rPr>
              <a:t>Compuerta
media+desv.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60" y="1664208"/>
            <a:ext cx="3246120" cy="1170432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1819656"/>
            <a:ext cx="1170432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64F12"/>
                </a:solidFill>
                <a:latin typeface="Arial"/>
              </a:rPr>
              <a:t>0,706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56648" y="1901952"/>
            <a:ext cx="1600200" cy="3200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171A"/>
                </a:solidFill>
                <a:latin typeface="Arial"/>
              </a:rPr>
              <a:t>concat. ≈ global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2313432"/>
            <a:ext cx="2697480" cy="2468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16468"/>
                </a:solidFill>
                <a:latin typeface="Arial"/>
              </a:rPr>
              <a:t>misma media y baja dispersión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66760" y="3090672"/>
            <a:ext cx="324612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6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41080" y="3300984"/>
            <a:ext cx="1115568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62418"/>
                </a:solidFill>
                <a:latin typeface="Arial"/>
              </a:rPr>
              <a:t>≈0,59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8360" y="3364992"/>
            <a:ext cx="1600200" cy="3200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171A"/>
                </a:solidFill>
                <a:latin typeface="Arial"/>
              </a:rPr>
              <a:t>adaptativas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80" y="3794760"/>
            <a:ext cx="265176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16468"/>
                </a:solidFill>
                <a:latin typeface="Arial"/>
              </a:rPr>
              <a:t>σ ≈ 0,17 por una corrida débil en cada variante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66760" y="4791456"/>
            <a:ext cx="3246120" cy="749808"/>
          </a:xfrm>
          <a:prstGeom prst="roundRect">
            <a:avLst/>
          </a:prstGeom>
          <a:solidFill>
            <a:srgbClr val="E64F12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Respuesta a la hipótesis: NO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73952"/>
            <a:ext cx="10698480" cy="1463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Dice medio en test; barras = media de 3 semillas; error = desviación estándar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La diferencia está en la estabilidad entre semillas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141732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171A"/>
                </a:solidFill>
                <a:latin typeface="Arial"/>
              </a:rPr>
              <a:t>Concat.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93392" y="1371600"/>
            <a:ext cx="932688" cy="347472"/>
          </a:xfrm>
          <a:prstGeom prst="roundRect">
            <a:avLst/>
          </a:prstGeom>
          <a:solidFill>
            <a:srgbClr val="E64F12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0,698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1371600"/>
            <a:ext cx="932688" cy="347472"/>
          </a:xfrm>
          <a:prstGeom prst="roundRect">
            <a:avLst/>
          </a:prstGeom>
          <a:solidFill>
            <a:srgbClr val="E64F12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0,711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1371600"/>
            <a:ext cx="932688" cy="347472"/>
          </a:xfrm>
          <a:prstGeom prst="roundRect">
            <a:avLst/>
          </a:prstGeom>
          <a:solidFill>
            <a:srgbClr val="E64F12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0,708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1143000"/>
            <a:ext cx="932688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932688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1143000"/>
            <a:ext cx="932688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929384"/>
            <a:ext cx="141732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171A"/>
                </a:solidFill>
                <a:latin typeface="Arial"/>
              </a:rPr>
              <a:t>Global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93392" y="1883664"/>
            <a:ext cx="932688" cy="347472"/>
          </a:xfrm>
          <a:prstGeom prst="roundRect">
            <a:avLst/>
          </a:prstGeom>
          <a:solidFill>
            <a:srgbClr val="EB7243"/>
          </a:solidFill>
          <a:ln w="12700">
            <a:solidFill>
              <a:srgbClr val="EB7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0,697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883664"/>
            <a:ext cx="932688" cy="347472"/>
          </a:xfrm>
          <a:prstGeom prst="roundRect">
            <a:avLst/>
          </a:prstGeom>
          <a:solidFill>
            <a:srgbClr val="EB7243"/>
          </a:solidFill>
          <a:ln w="12700">
            <a:solidFill>
              <a:srgbClr val="EB7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0,713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883664"/>
            <a:ext cx="932688" cy="347472"/>
          </a:xfrm>
          <a:prstGeom prst="roundRect">
            <a:avLst/>
          </a:prstGeom>
          <a:solidFill>
            <a:srgbClr val="EB7243"/>
          </a:solidFill>
          <a:ln w="12700">
            <a:solidFill>
              <a:srgbClr val="EB7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0,707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441448"/>
            <a:ext cx="141732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171A"/>
                </a:solidFill>
                <a:latin typeface="Arial"/>
              </a:rPr>
              <a:t>Adapt.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93392" y="2395728"/>
            <a:ext cx="932688" cy="347472"/>
          </a:xfrm>
          <a:prstGeom prst="roundRect">
            <a:avLst/>
          </a:prstGeom>
          <a:solidFill>
            <a:srgbClr val="F19672"/>
          </a:solidFill>
          <a:ln w="12700">
            <a:solidFill>
              <a:srgbClr val="F19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0,702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2395728"/>
            <a:ext cx="932688" cy="347472"/>
          </a:xfrm>
          <a:prstGeom prst="roundRect">
            <a:avLst/>
          </a:prstGeom>
          <a:solidFill>
            <a:srgbClr val="F19672"/>
          </a:solidFill>
          <a:ln w="12700">
            <a:solidFill>
              <a:srgbClr val="F19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0,710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2395728"/>
            <a:ext cx="932688" cy="347472"/>
          </a:xfrm>
          <a:prstGeom prst="roundRect">
            <a:avLst/>
          </a:prstGeom>
          <a:solidFill>
            <a:srgbClr val="B62418"/>
          </a:solidFill>
          <a:ln w="12700">
            <a:solidFill>
              <a:srgbClr val="B6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0,347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953512"/>
            <a:ext cx="141732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171A"/>
                </a:solidFill>
                <a:latin typeface="Arial"/>
              </a:rPr>
              <a:t>Adapt. media+desv.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93392" y="2907792"/>
            <a:ext cx="932688" cy="347472"/>
          </a:xfrm>
          <a:prstGeom prst="roundRect">
            <a:avLst/>
          </a:prstGeom>
          <a:solidFill>
            <a:srgbClr val="F5B8A1"/>
          </a:solidFill>
          <a:ln w="12700">
            <a:solidFill>
              <a:srgbClr val="F5B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0,711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0" y="2907792"/>
            <a:ext cx="932688" cy="347472"/>
          </a:xfrm>
          <a:prstGeom prst="roundRect">
            <a:avLst/>
          </a:prstGeom>
          <a:solidFill>
            <a:srgbClr val="B62418"/>
          </a:solidFill>
          <a:ln w="12700">
            <a:solidFill>
              <a:srgbClr val="B6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0,349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4528" y="2907792"/>
            <a:ext cx="932688" cy="347472"/>
          </a:xfrm>
          <a:prstGeom prst="roundRect">
            <a:avLst/>
          </a:prstGeom>
          <a:solidFill>
            <a:srgbClr val="F5B8A1"/>
          </a:solidFill>
          <a:ln w="12700">
            <a:solidFill>
              <a:srgbClr val="F5B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0,714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56816" y="941832"/>
            <a:ext cx="3172968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Semilla (dos últimas cifras)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76672" y="1371600"/>
            <a:ext cx="6236208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F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ig_colapso_adaptive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2" y="1628775"/>
            <a:ext cx="6236208" cy="233857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566928" y="3822191"/>
            <a:ext cx="4572000" cy="1444752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FD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050791"/>
            <a:ext cx="2423160" cy="274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64F12"/>
                </a:solidFill>
                <a:latin typeface="Arial"/>
              </a:rPr>
              <a:t>Diagnóstico exploratorio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4434840"/>
            <a:ext cx="4069080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171A"/>
                </a:solidFill>
                <a:latin typeface="Arial"/>
              </a:rPr>
              <a:t>En 40 volúmenes preliminares, los pesos variaron poco entre estudios. Pero el modelo calcula pesos sobre parches y ventanas: el diagnóstico no caracteriza los checkpoints finales ni identifica la causa.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76672" y="4498848"/>
            <a:ext cx="623620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6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62418"/>
                </a:solidFill>
                <a:latin typeface="Arial"/>
              </a:rPr>
              <a:t>Una semilla débil por variante basta para invalidar una mejora «consistente»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10698480" cy="1463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Ejemplo post hoc: BraTS-GLI-02273-100; no es una muestra representativa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Contexto arquitectónico: hay margen más allá de la fusión temprana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042416" y="1673352"/>
            <a:ext cx="0" cy="3584448"/>
          </a:xfrm>
          <a:prstGeom prst="line">
            <a:avLst/>
          </a:prstGeom>
          <a:ln>
            <a:solidFill>
              <a:srgbClr val="6164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42416" y="5257800"/>
            <a:ext cx="8257032" cy="0"/>
          </a:xfrm>
          <a:prstGeom prst="line">
            <a:avLst/>
          </a:prstGeom>
          <a:ln>
            <a:solidFill>
              <a:srgbClr val="6164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42416" y="4859528"/>
            <a:ext cx="8257032" cy="0"/>
          </a:xfrm>
          <a:prstGeom prst="line">
            <a:avLst/>
          </a:prstGeom>
          <a:ln>
            <a:solidFill>
              <a:srgbClr val="CDCFC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4768088"/>
            <a:ext cx="393192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16468"/>
                </a:solidFill>
                <a:latin typeface="Arial"/>
              </a:rPr>
              <a:t>0,5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42416" y="4062984"/>
            <a:ext cx="8257032" cy="0"/>
          </a:xfrm>
          <a:prstGeom prst="line">
            <a:avLst/>
          </a:prstGeom>
          <a:ln>
            <a:solidFill>
              <a:srgbClr val="CDCFC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6928" y="3971544"/>
            <a:ext cx="393192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16468"/>
                </a:solidFill>
                <a:latin typeface="Arial"/>
              </a:rPr>
              <a:t>0,6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42416" y="3266440"/>
            <a:ext cx="8257032" cy="0"/>
          </a:xfrm>
          <a:prstGeom prst="line">
            <a:avLst/>
          </a:prstGeom>
          <a:ln>
            <a:solidFill>
              <a:srgbClr val="CDCFC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3175000"/>
            <a:ext cx="393192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16468"/>
                </a:solidFill>
                <a:latin typeface="Arial"/>
              </a:rPr>
              <a:t>0,7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42416" y="2469896"/>
            <a:ext cx="8257032" cy="0"/>
          </a:xfrm>
          <a:prstGeom prst="line">
            <a:avLst/>
          </a:prstGeom>
          <a:ln>
            <a:solidFill>
              <a:srgbClr val="CDCFC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378456"/>
            <a:ext cx="393192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16468"/>
                </a:solidFill>
                <a:latin typeface="Arial"/>
              </a:rPr>
              <a:t>0,8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42416" y="1673352"/>
            <a:ext cx="8257032" cy="0"/>
          </a:xfrm>
          <a:prstGeom prst="line">
            <a:avLst/>
          </a:prstGeom>
          <a:ln>
            <a:solidFill>
              <a:srgbClr val="CDCFC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6928" y="1581912"/>
            <a:ext cx="393192" cy="1828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16468"/>
                </a:solidFill>
                <a:latin typeface="Arial"/>
              </a:rPr>
              <a:t>0,9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56238" y="2237305"/>
            <a:ext cx="789675" cy="3020494"/>
          </a:xfrm>
          <a:prstGeom prst="rect">
            <a:avLst/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6510" y="1990417"/>
            <a:ext cx="1009131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171A"/>
                </a:solidFill>
                <a:latin typeface="Arial"/>
              </a:rPr>
              <a:t>0,829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1646" y="5330952"/>
            <a:ext cx="1118859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6171A"/>
                </a:solidFill>
                <a:latin typeface="Arial"/>
              </a:rPr>
              <a:t>nnU-Net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7526" y="2853830"/>
            <a:ext cx="789675" cy="2403969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07798" y="2606942"/>
            <a:ext cx="1009131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171A"/>
                </a:solidFill>
                <a:latin typeface="Arial"/>
              </a:rPr>
              <a:t>0,752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2934" y="5330952"/>
            <a:ext cx="1118859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6171A"/>
                </a:solidFill>
                <a:latin typeface="Arial"/>
              </a:rPr>
              <a:t>Swin-
UNETR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78814" y="2990835"/>
            <a:ext cx="789675" cy="2266964"/>
          </a:xfrm>
          <a:prstGeom prst="rect">
            <a:avLst/>
          </a:prstGeom>
          <a:solidFill>
            <a:srgbClr val="EB7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9086" y="2743947"/>
            <a:ext cx="1009131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171A"/>
                </a:solidFill>
                <a:latin typeface="Arial"/>
              </a:rPr>
              <a:t>0,735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4222" y="5330952"/>
            <a:ext cx="1118859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6171A"/>
                </a:solidFill>
                <a:latin typeface="Arial"/>
              </a:rPr>
              <a:t>Attention
U-Net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0102" y="3219443"/>
            <a:ext cx="789675" cy="2038356"/>
          </a:xfrm>
          <a:prstGeom prst="rect">
            <a:avLst/>
          </a:prstGeom>
          <a:solidFill>
            <a:srgbClr val="F19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0374" y="2972555"/>
            <a:ext cx="1009131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171A"/>
                </a:solidFill>
                <a:latin typeface="Arial"/>
              </a:rPr>
              <a:t>0,706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75510" y="5330952"/>
            <a:ext cx="1118859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6171A"/>
                </a:solidFill>
                <a:latin typeface="Arial"/>
              </a:rPr>
              <a:t>Residual +
concat.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01390" y="3221036"/>
            <a:ext cx="789675" cy="2036763"/>
          </a:xfrm>
          <a:prstGeom prst="rect">
            <a:avLst/>
          </a:prstGeom>
          <a:solidFill>
            <a:srgbClr val="F5B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1662" y="2974148"/>
            <a:ext cx="1009131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171A"/>
                </a:solidFill>
                <a:latin typeface="Arial"/>
              </a:rPr>
              <a:t>0,706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36798" y="5330952"/>
            <a:ext cx="1118859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6171A"/>
                </a:solidFill>
                <a:latin typeface="Arial"/>
              </a:rPr>
              <a:t>Residual +
global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2678" y="4172907"/>
            <a:ext cx="789675" cy="1084892"/>
          </a:xfrm>
          <a:prstGeom prst="rect">
            <a:avLst/>
          </a:prstGeom>
          <a:solidFill>
            <a:srgbClr val="CDC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52950" y="3926019"/>
            <a:ext cx="1009131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171A"/>
                </a:solidFill>
                <a:latin typeface="Arial"/>
              </a:rPr>
              <a:t>0,586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8086" y="5330952"/>
            <a:ext cx="1118859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6171A"/>
                </a:solidFill>
                <a:latin typeface="Arial"/>
              </a:rPr>
              <a:t>Adapt.
media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3966" y="4129893"/>
            <a:ext cx="789675" cy="1127906"/>
          </a:xfrm>
          <a:prstGeom prst="rect">
            <a:avLst/>
          </a:prstGeom>
          <a:solidFill>
            <a:srgbClr val="CDC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4238" y="3883005"/>
            <a:ext cx="1009131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171A"/>
                </a:solidFill>
                <a:latin typeface="Arial"/>
              </a:rPr>
              <a:t>0,592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374" y="5330952"/>
            <a:ext cx="1118859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6171A"/>
                </a:solidFill>
                <a:latin typeface="Arial"/>
              </a:rPr>
              <a:t>Adapt.
media+desv.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28048" y="1691640"/>
            <a:ext cx="2121408" cy="932688"/>
          </a:xfrm>
          <a:prstGeom prst="roundRect">
            <a:avLst/>
          </a:prstGeom>
          <a:solidFill>
            <a:srgbClr val="16243A"/>
          </a:solidFill>
          <a:ln w="12700">
            <a:solidFill>
              <a:srgbClr val="16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nnU-Net
0,829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28048" y="2834640"/>
            <a:ext cx="2121408" cy="932688"/>
          </a:xfrm>
          <a:prstGeom prst="roundRect">
            <a:avLst/>
          </a:prstGeom>
          <a:solidFill>
            <a:srgbClr val="E64F12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Swin-UNETR
0,752 ± 0,017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28048" y="4041648"/>
            <a:ext cx="2121408" cy="1097280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29216" y="4206240"/>
            <a:ext cx="137160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LECTURA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29216" y="4498848"/>
            <a:ext cx="1627632" cy="4114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171A"/>
                </a:solidFill>
                <a:latin typeface="Arial"/>
              </a:rPr>
              <a:t>El margen no se agota con cuatro pesos en la entrada.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" y="5897880"/>
            <a:ext cx="10991088" cy="384048"/>
          </a:xfrm>
          <a:prstGeom prst="roundRect">
            <a:avLst/>
          </a:prstGeom>
          <a:solidFill>
            <a:srgbClr val="F3F3F2"/>
          </a:solidFill>
          <a:ln w="12700">
            <a:solidFill>
              <a:srgbClr val="F3F3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16468"/>
                </a:solidFill>
                <a:latin typeface="Arial"/>
              </a:rPr>
              <a:t>Comparación descriptiva, no ablación: nnU-Net usa su propio pipeline y las arquitecturas se ejecutaron en entornos distintos.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73952"/>
            <a:ext cx="10698480" cy="1463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Fuente: outputs/evaluation/final_all_test.csv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06 · CONTRIBUCIÓN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Ligereza paramétrica y trazabilidad experimental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237744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4F12"/>
                </a:solidFill>
                <a:latin typeface="Arial"/>
              </a:rPr>
              <a:t>COSTE DE LA FUSIÓN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47088"/>
            <a:ext cx="1508760" cy="1097280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93392"/>
            <a:ext cx="1234440" cy="40233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4F12"/>
                </a:solidFill>
                <a:latin typeface="Arial"/>
              </a:rPr>
              <a:t>+4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234440" cy="21945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171A"/>
                </a:solidFill>
                <a:latin typeface="Arial"/>
              </a:rPr>
              <a:t>global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847088"/>
            <a:ext cx="1508760" cy="1097280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1993392"/>
            <a:ext cx="1234440" cy="40233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4F12"/>
                </a:solidFill>
                <a:latin typeface="Arial"/>
              </a:rPr>
              <a:t>+76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2468880"/>
            <a:ext cx="1234440" cy="21945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171A"/>
                </a:solidFill>
                <a:latin typeface="Arial"/>
              </a:rPr>
              <a:t>media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1847088"/>
            <a:ext cx="1508760" cy="1097280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993392"/>
            <a:ext cx="1234440" cy="40233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4F12"/>
                </a:solidFill>
                <a:latin typeface="Arial"/>
              </a:rPr>
              <a:t>+108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468880"/>
            <a:ext cx="1234440" cy="219456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171A"/>
                </a:solidFill>
                <a:latin typeface="Arial"/>
              </a:rPr>
              <a:t>media+desv.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108960"/>
            <a:ext cx="4828032" cy="2743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16468"/>
                </a:solidFill>
                <a:latin typeface="Arial"/>
              </a:rPr>
              <a:t>sobre 1.190.358 parámetros de la red base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57600"/>
            <a:ext cx="5047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F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840480"/>
            <a:ext cx="214884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171A"/>
                </a:solidFill>
                <a:latin typeface="Arial"/>
              </a:rPr>
              <a:t>Tiempo MPS observado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224528"/>
            <a:ext cx="448056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16468"/>
                </a:solidFill>
                <a:latin typeface="Arial"/>
              </a:rPr>
              <a:t>concat.: 4,99–5,00 h  |  ponderadas: 5,65–6,02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4517136"/>
            <a:ext cx="448056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B62418"/>
                </a:solidFill>
                <a:latin typeface="Arial"/>
              </a:rPr>
              <a:t>No es un benchmark aislado; no atribuye el incremento solo al bloque.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444752"/>
            <a:ext cx="237744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4F12"/>
                </a:solidFill>
                <a:latin typeface="Arial"/>
              </a:rPr>
              <a:t>REPRODUCIBILIDAD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1828800"/>
            <a:ext cx="438912" cy="438912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1810512"/>
            <a:ext cx="1938528" cy="2377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6171A"/>
                </a:solidFill>
                <a:latin typeface="Arial"/>
              </a:rPr>
              <a:t>Splits y manifiesto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1819656"/>
            <a:ext cx="2331720" cy="2834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16468"/>
                </a:solidFill>
                <a:latin typeface="Arial"/>
              </a:rPr>
              <a:t>semilla y estratos versionados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2670048"/>
            <a:ext cx="438912" cy="438912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651760"/>
            <a:ext cx="1938528" cy="2377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6171A"/>
                </a:solidFill>
                <a:latin typeface="Arial"/>
              </a:rPr>
              <a:t>Configuraciones YAML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2660904"/>
            <a:ext cx="2331720" cy="2834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16468"/>
                </a:solidFill>
                <a:latin typeface="Arial"/>
              </a:rPr>
              <a:t>datos, modelos y entrenamiento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3511296"/>
            <a:ext cx="438912" cy="438912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493008"/>
            <a:ext cx="1938528" cy="2377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6171A"/>
                </a:solidFill>
                <a:latin typeface="Arial"/>
              </a:rPr>
              <a:t>CLI reproducible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3502152"/>
            <a:ext cx="2331720" cy="2834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16468"/>
                </a:solidFill>
                <a:latin typeface="Arial"/>
              </a:rPr>
              <a:t>qc · splits · train · predict · evaluate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4352544"/>
            <a:ext cx="438912" cy="438912"/>
          </a:xfrm>
          <a:prstGeom prst="ellipse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334256"/>
            <a:ext cx="1938528" cy="2377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6171A"/>
                </a:solidFill>
                <a:latin typeface="Arial"/>
              </a:rPr>
              <a:t>Artefactos finales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0848" y="4343400"/>
            <a:ext cx="2331720" cy="2834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16468"/>
                </a:solidFill>
                <a:latin typeface="Arial"/>
              </a:rPr>
              <a:t>CSV y resúmenes JSON por ejecución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73952" y="5303520"/>
            <a:ext cx="4901184" cy="502920"/>
          </a:xfrm>
          <a:prstGeom prst="roundRect">
            <a:avLst/>
          </a:prstGeom>
          <a:solidFill>
            <a:srgbClr val="E64F12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12 ejecuciones de ablación rastreables de configuración a métrica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10698480" cy="1463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16468"/>
                </a:solidFill>
                <a:latin typeface="Arial"/>
              </a:rPr>
              <a:t>Código y artefactos: tfm_brats/, configs/ y outputs/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96112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64F12"/>
                </a:solidFill>
                <a:latin typeface="Arial"/>
              </a:rPr>
              <a:t>07 · 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058400" cy="43891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171A"/>
                </a:solidFill>
                <a:latin typeface="Arial"/>
              </a:rPr>
              <a:t>Conclusión, límites y siguiente paso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777240" cy="45720"/>
          </a:xfrm>
          <a:prstGeom prst="rect">
            <a:avLst/>
          </a:prstGeom>
          <a:solidFill>
            <a:srgbClr val="E64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543800" y="1508760"/>
            <a:ext cx="3703320" cy="3767328"/>
          </a:xfrm>
          <a:prstGeom prst="roundRect">
            <a:avLst/>
          </a:prstGeom>
          <a:solidFill>
            <a:srgbClr val="E64F12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73568" y="1993392"/>
            <a:ext cx="2834640" cy="25603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RESPUESTA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2414016"/>
            <a:ext cx="2834640" cy="9601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 i="0">
                <a:solidFill>
                  <a:srgbClr val="FFFFFF"/>
                </a:solidFill>
                <a:latin typeface="Arial"/>
              </a:rPr>
              <a:t>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9831" y="3493008"/>
            <a:ext cx="3182112" cy="34747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bajo el protocolo evaluado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554480"/>
            <a:ext cx="146304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4F12"/>
                </a:solidFill>
                <a:latin typeface="Arial"/>
              </a:rPr>
              <a:t>CONCLUSIÓN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1536192"/>
            <a:ext cx="4937760" cy="7132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171A"/>
                </a:solidFill>
                <a:latin typeface="Arial"/>
              </a:rPr>
              <a:t>La concatenación es la opción más sencilla y una de las más estables; la ponderación global es equivalente.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2514600"/>
            <a:ext cx="6263640" cy="0"/>
          </a:xfrm>
          <a:prstGeom prst="line">
            <a:avLst/>
          </a:prstGeom>
          <a:ln>
            <a:solidFill>
              <a:srgbClr val="CDCF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1792" y="2880360"/>
            <a:ext cx="146304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4F12"/>
                </a:solidFill>
                <a:latin typeface="Arial"/>
              </a:rPr>
              <a:t>LÍMITES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1952" y="2862072"/>
            <a:ext cx="4937760" cy="7132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6171A"/>
                </a:solidFill>
                <a:latin typeface="Arial"/>
              </a:rPr>
              <a:t>3 semillas; 15.000 pasos; split por estudio; sin validación externa ni demostración de utilidad clínica.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3840480"/>
            <a:ext cx="6263640" cy="0"/>
          </a:xfrm>
          <a:prstGeom prst="line">
            <a:avLst/>
          </a:prstGeom>
          <a:ln>
            <a:solidFill>
              <a:srgbClr val="CDCF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1792" y="4206240"/>
            <a:ext cx="1463040" cy="228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4F12"/>
                </a:solidFill>
                <a:latin typeface="Arial"/>
              </a:rPr>
              <a:t>TRABAJO FUTURO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1952" y="4187952"/>
            <a:ext cx="4937760" cy="7132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6171A"/>
                </a:solidFill>
                <a:latin typeface="Arial"/>
              </a:rPr>
              <a:t>Agrupar por paciente, validar externamente y explorar fusión espacial o intermedia con más repeticiones.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76288" y="5550408"/>
            <a:ext cx="4370832" cy="640080"/>
          </a:xfrm>
          <a:prstGeom prst="roundRect">
            <a:avLst/>
          </a:prstGeom>
          <a:solidFill>
            <a:srgbClr val="FDECE8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64F12"/>
                </a:solidFill>
                <a:latin typeface="Arial"/>
              </a:rPr>
              <a:t>Un resultado negativo multisemilla es más informativo que una mejora aislada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61646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502920"/>
            <a:ext cx="6629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4F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694944"/>
            <a:ext cx="292608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6171A"/>
                </a:solidFill>
                <a:latin typeface="Arial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4114800" cy="25603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4F12"/>
                </a:solidFill>
                <a:latin typeface="Arial"/>
              </a:rPr>
              <a:t>Preguntas y discusión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81912"/>
            <a:ext cx="2743200" cy="201168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16468"/>
                </a:solidFill>
                <a:latin typeface="Arial"/>
              </a:rPr>
              <a:t>Jesús Ferrón Rubio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82127" y="5285232"/>
            <a:ext cx="3337560" cy="585216"/>
          </a:xfrm>
          <a:prstGeom prst="roundRect">
            <a:avLst/>
          </a:prstGeom>
          <a:solidFill>
            <a:srgbClr val="E64F1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Dice 0,706 · 12 ejecuciones · 1 conclusión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11712" y="6199632"/>
            <a:ext cx="274320" cy="164592"/>
          </a:xfrm>
          <a:prstGeom prst="rect">
            <a:avLst/>
          </a:prstGeom>
          <a:noFill/>
        </p:spPr>
        <p:txBody>
          <a:bodyPr wrap="square" lIns="73152" rIns="73152" tIns="73152" bIns="7315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ratulas">
  <a:themeElements>
    <a:clrScheme name="Viu">
      <a:dk1>
        <a:srgbClr val="000000"/>
      </a:dk1>
      <a:lt1>
        <a:srgbClr val="FFFFFF"/>
      </a:lt1>
      <a:dk2>
        <a:srgbClr val="CDCFCE"/>
      </a:dk2>
      <a:lt2>
        <a:srgbClr val="FFFFFF"/>
      </a:lt2>
      <a:accent1>
        <a:srgbClr val="FDECE8"/>
      </a:accent1>
      <a:accent2>
        <a:srgbClr val="F5B8A1"/>
      </a:accent2>
      <a:accent3>
        <a:srgbClr val="F19672"/>
      </a:accent3>
      <a:accent4>
        <a:srgbClr val="F3A788"/>
      </a:accent4>
      <a:accent5>
        <a:srgbClr val="EB7243"/>
      </a:accent5>
      <a:accent6>
        <a:srgbClr val="E64F12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UMMA_PlantillaPpt_VIU_V3 TIPOS CORPORATIVAS" id="{0945344E-95D9-F64E-A5CC-664A37B35252}" vid="{D6AD5BDC-0BBE-BA4E-8263-E0887E4E75BB}"/>
    </a:ext>
  </a:extLst>
</a:theme>
</file>

<file path=ppt/theme/theme2.xml><?xml version="1.0" encoding="utf-8"?>
<a:theme xmlns:a="http://schemas.openxmlformats.org/drawingml/2006/main" name="Capítulo">
  <a:themeElements>
    <a:clrScheme name="Viu">
      <a:dk1>
        <a:srgbClr val="000000"/>
      </a:dk1>
      <a:lt1>
        <a:srgbClr val="FFFFFF"/>
      </a:lt1>
      <a:dk2>
        <a:srgbClr val="CDCFCE"/>
      </a:dk2>
      <a:lt2>
        <a:srgbClr val="FFFFFF"/>
      </a:lt2>
      <a:accent1>
        <a:srgbClr val="FDECE8"/>
      </a:accent1>
      <a:accent2>
        <a:srgbClr val="F5B8A1"/>
      </a:accent2>
      <a:accent3>
        <a:srgbClr val="F19672"/>
      </a:accent3>
      <a:accent4>
        <a:srgbClr val="F3A788"/>
      </a:accent4>
      <a:accent5>
        <a:srgbClr val="EB7243"/>
      </a:accent5>
      <a:accent6>
        <a:srgbClr val="E64F12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UMMA_PlantillaPpt_VIU_V3 TIPOS CORPORATIVAS" id="{0945344E-95D9-F64E-A5CC-664A37B35252}" vid="{1F0C2304-CBCC-B64F-A294-FFB31C1B0435}"/>
    </a:ext>
  </a:extLst>
</a:theme>
</file>

<file path=ppt/theme/theme3.xml><?xml version="1.0" encoding="utf-8"?>
<a:theme xmlns:a="http://schemas.openxmlformats.org/drawingml/2006/main" name="Destacados Slide">
  <a:themeElements>
    <a:clrScheme name="Viu">
      <a:dk1>
        <a:srgbClr val="000000"/>
      </a:dk1>
      <a:lt1>
        <a:srgbClr val="FFFFFF"/>
      </a:lt1>
      <a:dk2>
        <a:srgbClr val="CDCFCE"/>
      </a:dk2>
      <a:lt2>
        <a:srgbClr val="E54E13"/>
      </a:lt2>
      <a:accent1>
        <a:srgbClr val="FDECE8"/>
      </a:accent1>
      <a:accent2>
        <a:srgbClr val="F5B8A1"/>
      </a:accent2>
      <a:accent3>
        <a:srgbClr val="F19672"/>
      </a:accent3>
      <a:accent4>
        <a:srgbClr val="F3A788"/>
      </a:accent4>
      <a:accent5>
        <a:srgbClr val="EB7243"/>
      </a:accent5>
      <a:accent6>
        <a:srgbClr val="E64F12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UMMA_PlantillaPpt_VIU_V3 TIPOS CORPORATIVAS" id="{0945344E-95D9-F64E-A5CC-664A37B35252}" vid="{CB959A07-0623-4844-BF21-F38DDB541755}"/>
    </a:ext>
  </a:extLst>
</a:theme>
</file>

<file path=ppt/theme/theme4.xml><?xml version="1.0" encoding="utf-8"?>
<a:theme xmlns:a="http://schemas.openxmlformats.org/drawingml/2006/main" name="Contenido Slide">
  <a:themeElements>
    <a:clrScheme name="Viu">
      <a:dk1>
        <a:srgbClr val="000000"/>
      </a:dk1>
      <a:lt1>
        <a:srgbClr val="FFFFFF"/>
      </a:lt1>
      <a:dk2>
        <a:srgbClr val="CDCFCE"/>
      </a:dk2>
      <a:lt2>
        <a:srgbClr val="E54E13"/>
      </a:lt2>
      <a:accent1>
        <a:srgbClr val="FDECE8"/>
      </a:accent1>
      <a:accent2>
        <a:srgbClr val="F5B8A1"/>
      </a:accent2>
      <a:accent3>
        <a:srgbClr val="F19672"/>
      </a:accent3>
      <a:accent4>
        <a:srgbClr val="F3A788"/>
      </a:accent4>
      <a:accent5>
        <a:srgbClr val="EB7243"/>
      </a:accent5>
      <a:accent6>
        <a:srgbClr val="E64F12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UMMA_PlantillaPpt_VIU_V3 TIPOS CORPORATIVAS" id="{0945344E-95D9-F64E-A5CC-664A37B35252}" vid="{BB69BB77-6BDA-9E44-B237-9ABF44CF2275}"/>
    </a:ext>
  </a:extLst>
</a:theme>
</file>

<file path=ppt/theme/theme5.xml><?xml version="1.0" encoding="utf-8"?>
<a:theme xmlns:a="http://schemas.openxmlformats.org/drawingml/2006/main" name="Gráficos">
  <a:themeElements>
    <a:clrScheme name="Viu gráficos">
      <a:dk1>
        <a:srgbClr val="000000"/>
      </a:dk1>
      <a:lt1>
        <a:srgbClr val="FFFFFF"/>
      </a:lt1>
      <a:dk2>
        <a:srgbClr val="CDCFCE"/>
      </a:dk2>
      <a:lt2>
        <a:srgbClr val="E54E13"/>
      </a:lt2>
      <a:accent1>
        <a:srgbClr val="E45115"/>
      </a:accent1>
      <a:accent2>
        <a:srgbClr val="EC7240"/>
      </a:accent2>
      <a:accent3>
        <a:srgbClr val="F2A788"/>
      </a:accent3>
      <a:accent4>
        <a:srgbClr val="F19672"/>
      </a:accent4>
      <a:accent5>
        <a:srgbClr val="F5B8A0"/>
      </a:accent5>
      <a:accent6>
        <a:srgbClr val="FEEDE5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UMMA_PlantillaPpt_VIU_V3 TIPOS CORPORATIVAS" id="{0945344E-95D9-F64E-A5CC-664A37B35252}" vid="{2044519A-EC62-8F43-A324-B8425A2A0DD8}"/>
    </a:ext>
  </a:extLst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SUMMA_PlantillaPpt_VIU_V3 TIPOS CORPORATIVAS</Template>
  <TotalTime>4</TotalTime>
  <Words>0</Words>
  <Application>Microsoft Office PowerPoint</Application>
  <PresentationFormat>Panorámica</PresentationFormat>
  <Paragraphs>0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5</vt:i4>
      </vt:variant>
      <vt:variant>
        <vt:lpstr>Títulos de diapositiva</vt:lpstr>
      </vt:variant>
      <vt:variant>
        <vt:i4>10</vt:i4>
      </vt:variant>
    </vt:vector>
  </HeadingPairs>
  <TitlesOfParts>
    <vt:vector size="21" baseType="lpstr">
      <vt:lpstr>Arial</vt:lpstr>
      <vt:lpstr>Calibri</vt:lpstr>
      <vt:lpstr>FS Pimlico</vt:lpstr>
      <vt:lpstr>Periodico Display</vt:lpstr>
      <vt:lpstr>Periodico Display UltraLight</vt:lpstr>
      <vt:lpstr>Visuelt Pro</vt:lpstr>
      <vt:lpstr>Caratulas</vt:lpstr>
      <vt:lpstr>Capítulo</vt:lpstr>
      <vt:lpstr>Destacados Slide</vt:lpstr>
      <vt:lpstr>Contenido Slide</vt:lpstr>
      <vt:lpstr>Gráficos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Planeta Sistemas y Operaciones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Segmentación de tumores cerebrales en resonancia magnética multimodal</dc:title>
  <dc:creator>Jesús Ferrón Rubio</dc:creator>
  <cp:lastModifiedBy>Mario Alfonso Inclan Nafria</cp:lastModifiedBy>
  <cp:revision>2</cp:revision>
  <dcterms:created xsi:type="dcterms:W3CDTF">2020-12-02T10:46:51Z</dcterms:created>
  <dcterms:modified xsi:type="dcterms:W3CDTF">2022-03-09T21:30:07Z</dcterms:modified>
  <dc:subject>Presentación de defensa del Trabajo Fin de Máster</dc:subject>
  <cp:keywords>TFM, BraTS-GLI 2024, segmentación 3D, fusión multimodal, MONAI</cp:keywords>
</cp:coreProperties>
</file>